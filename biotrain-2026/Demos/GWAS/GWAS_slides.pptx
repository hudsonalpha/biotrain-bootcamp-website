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8"/>
  </p:notesMasterIdLst>
  <p:sldIdLst>
    <p:sldId id="256" r:id="rId2"/>
    <p:sldId id="262" r:id="rId3"/>
    <p:sldId id="257" r:id="rId4"/>
    <p:sldId id="259" r:id="rId5"/>
    <p:sldId id="260" r:id="rId6"/>
    <p:sldId id="261" r:id="rId7"/>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1"/>
    <p:restoredTop sz="94658"/>
  </p:normalViewPr>
  <p:slideViewPr>
    <p:cSldViewPr snapToGrid="0">
      <p:cViewPr>
        <p:scale>
          <a:sx n="83" d="100"/>
          <a:sy n="83" d="100"/>
        </p:scale>
        <p:origin x="2144" y="89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notesMaster" Target="notesMasters/notesMaster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tableStyles" Target="tableStyle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theme" Target="theme/theme1.xml"/><Relationship Id="rId5" Type="http://schemas.openxmlformats.org/officeDocument/2006/relationships/slide" Target="slides/slide4.xml"/><Relationship Id="rId10"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FB78040-60AB-864C-9750-E69EF3E571F1}" type="datetimeFigureOut">
              <a:rPr lang="en-US" smtClean="0"/>
              <a:t>5/26/26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68594AEA-6D64-7940-8BD3-8F88CBA96C9F}" type="slidenum">
              <a:rPr lang="en-US" smtClean="0"/>
              <a:t>‹#›</a:t>
            </a:fld>
            <a:endParaRPr lang="en-US"/>
          </a:p>
        </p:txBody>
      </p:sp>
    </p:spTree>
    <p:extLst>
      <p:ext uri="{BB962C8B-B14F-4D97-AF65-F5344CB8AC3E}">
        <p14:creationId xmlns:p14="http://schemas.microsoft.com/office/powerpoint/2010/main" val="159760164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68594AEA-6D64-7940-8BD3-8F88CBA96C9F}" type="slidenum">
              <a:rPr lang="en-US" smtClean="0"/>
              <a:t>4</a:t>
            </a:fld>
            <a:endParaRPr lang="en-US"/>
          </a:p>
        </p:txBody>
      </p:sp>
    </p:spTree>
    <p:extLst>
      <p:ext uri="{BB962C8B-B14F-4D97-AF65-F5344CB8AC3E}">
        <p14:creationId xmlns:p14="http://schemas.microsoft.com/office/powerpoint/2010/main" val="200428777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68594AEA-6D64-7940-8BD3-8F88CBA96C9F}" type="slidenum">
              <a:rPr lang="en-US" smtClean="0"/>
              <a:t>6</a:t>
            </a:fld>
            <a:endParaRPr lang="en-US"/>
          </a:p>
        </p:txBody>
      </p:sp>
    </p:spTree>
    <p:extLst>
      <p:ext uri="{BB962C8B-B14F-4D97-AF65-F5344CB8AC3E}">
        <p14:creationId xmlns:p14="http://schemas.microsoft.com/office/powerpoint/2010/main" val="2469648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A07DAC-9003-4C53-9142-A81E795D5D55}"/>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9AD510CE-6305-B49D-B2FC-821538E4BBC7}"/>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1CEBBDE3-D484-AECA-A61C-37CB54EEA0B4}"/>
              </a:ext>
            </a:extLst>
          </p:cNvPr>
          <p:cNvSpPr>
            <a:spLocks noGrp="1"/>
          </p:cNvSpPr>
          <p:nvPr>
            <p:ph type="dt" sz="half" idx="10"/>
          </p:nvPr>
        </p:nvSpPr>
        <p:spPr/>
        <p:txBody>
          <a:bodyPr/>
          <a:lstStyle/>
          <a:p>
            <a:fld id="{4C8FD783-4D4E-7D44-8B7E-358D45B61D7D}" type="datetimeFigureOut">
              <a:rPr lang="en-US" smtClean="0"/>
              <a:t>5/26/26</a:t>
            </a:fld>
            <a:endParaRPr lang="en-US"/>
          </a:p>
        </p:txBody>
      </p:sp>
      <p:sp>
        <p:nvSpPr>
          <p:cNvPr id="5" name="Footer Placeholder 4">
            <a:extLst>
              <a:ext uri="{FF2B5EF4-FFF2-40B4-BE49-F238E27FC236}">
                <a16:creationId xmlns:a16="http://schemas.microsoft.com/office/drawing/2014/main" id="{37C5E3D7-C8EB-8485-2070-4846F1DF1DF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0818CC2-2B58-C810-C570-6FA840939F54}"/>
              </a:ext>
            </a:extLst>
          </p:cNvPr>
          <p:cNvSpPr>
            <a:spLocks noGrp="1"/>
          </p:cNvSpPr>
          <p:nvPr>
            <p:ph type="sldNum" sz="quarter" idx="12"/>
          </p:nvPr>
        </p:nvSpPr>
        <p:spPr/>
        <p:txBody>
          <a:bodyPr/>
          <a:lstStyle/>
          <a:p>
            <a:fld id="{B8AFEDC1-9B7D-B04D-A62A-C20C311CCD12}" type="slidenum">
              <a:rPr lang="en-US" smtClean="0"/>
              <a:t>‹#›</a:t>
            </a:fld>
            <a:endParaRPr lang="en-US"/>
          </a:p>
        </p:txBody>
      </p:sp>
    </p:spTree>
    <p:extLst>
      <p:ext uri="{BB962C8B-B14F-4D97-AF65-F5344CB8AC3E}">
        <p14:creationId xmlns:p14="http://schemas.microsoft.com/office/powerpoint/2010/main" val="258358125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4F97407-31E6-B8C6-CC7F-28B0664636CA}"/>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BA7BD132-C05B-9E76-DB54-678E6EA145E9}"/>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5B81FFAD-6793-077C-4AB4-B56A2AEF299F}"/>
              </a:ext>
            </a:extLst>
          </p:cNvPr>
          <p:cNvSpPr>
            <a:spLocks noGrp="1"/>
          </p:cNvSpPr>
          <p:nvPr>
            <p:ph type="dt" sz="half" idx="10"/>
          </p:nvPr>
        </p:nvSpPr>
        <p:spPr/>
        <p:txBody>
          <a:bodyPr/>
          <a:lstStyle/>
          <a:p>
            <a:fld id="{4C8FD783-4D4E-7D44-8B7E-358D45B61D7D}" type="datetimeFigureOut">
              <a:rPr lang="en-US" smtClean="0"/>
              <a:t>5/26/26</a:t>
            </a:fld>
            <a:endParaRPr lang="en-US"/>
          </a:p>
        </p:txBody>
      </p:sp>
      <p:sp>
        <p:nvSpPr>
          <p:cNvPr id="5" name="Footer Placeholder 4">
            <a:extLst>
              <a:ext uri="{FF2B5EF4-FFF2-40B4-BE49-F238E27FC236}">
                <a16:creationId xmlns:a16="http://schemas.microsoft.com/office/drawing/2014/main" id="{01F7E0C9-A5FB-766F-1D7F-F41EEA4F4AE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6BBA60C-D54A-2666-423F-FB6C0247B040}"/>
              </a:ext>
            </a:extLst>
          </p:cNvPr>
          <p:cNvSpPr>
            <a:spLocks noGrp="1"/>
          </p:cNvSpPr>
          <p:nvPr>
            <p:ph type="sldNum" sz="quarter" idx="12"/>
          </p:nvPr>
        </p:nvSpPr>
        <p:spPr/>
        <p:txBody>
          <a:bodyPr/>
          <a:lstStyle/>
          <a:p>
            <a:fld id="{B8AFEDC1-9B7D-B04D-A62A-C20C311CCD12}" type="slidenum">
              <a:rPr lang="en-US" smtClean="0"/>
              <a:t>‹#›</a:t>
            </a:fld>
            <a:endParaRPr lang="en-US"/>
          </a:p>
        </p:txBody>
      </p:sp>
    </p:spTree>
    <p:extLst>
      <p:ext uri="{BB962C8B-B14F-4D97-AF65-F5344CB8AC3E}">
        <p14:creationId xmlns:p14="http://schemas.microsoft.com/office/powerpoint/2010/main" val="219679594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AEB2186-B6C5-1ED8-BF84-047C2B028D0E}"/>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059A3DB7-91A5-91B9-8589-F4F4714AE77F}"/>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802976A0-7B6B-2188-3A50-D6DB1C09B163}"/>
              </a:ext>
            </a:extLst>
          </p:cNvPr>
          <p:cNvSpPr>
            <a:spLocks noGrp="1"/>
          </p:cNvSpPr>
          <p:nvPr>
            <p:ph type="dt" sz="half" idx="10"/>
          </p:nvPr>
        </p:nvSpPr>
        <p:spPr/>
        <p:txBody>
          <a:bodyPr/>
          <a:lstStyle/>
          <a:p>
            <a:fld id="{4C8FD783-4D4E-7D44-8B7E-358D45B61D7D}" type="datetimeFigureOut">
              <a:rPr lang="en-US" smtClean="0"/>
              <a:t>5/26/26</a:t>
            </a:fld>
            <a:endParaRPr lang="en-US"/>
          </a:p>
        </p:txBody>
      </p:sp>
      <p:sp>
        <p:nvSpPr>
          <p:cNvPr id="5" name="Footer Placeholder 4">
            <a:extLst>
              <a:ext uri="{FF2B5EF4-FFF2-40B4-BE49-F238E27FC236}">
                <a16:creationId xmlns:a16="http://schemas.microsoft.com/office/drawing/2014/main" id="{17B12823-524E-5A2C-EF63-B63E70EF746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39B4D04-E254-B1EB-0A3F-367549594168}"/>
              </a:ext>
            </a:extLst>
          </p:cNvPr>
          <p:cNvSpPr>
            <a:spLocks noGrp="1"/>
          </p:cNvSpPr>
          <p:nvPr>
            <p:ph type="sldNum" sz="quarter" idx="12"/>
          </p:nvPr>
        </p:nvSpPr>
        <p:spPr/>
        <p:txBody>
          <a:bodyPr/>
          <a:lstStyle/>
          <a:p>
            <a:fld id="{B8AFEDC1-9B7D-B04D-A62A-C20C311CCD12}" type="slidenum">
              <a:rPr lang="en-US" smtClean="0"/>
              <a:t>‹#›</a:t>
            </a:fld>
            <a:endParaRPr lang="en-US"/>
          </a:p>
        </p:txBody>
      </p:sp>
    </p:spTree>
    <p:extLst>
      <p:ext uri="{BB962C8B-B14F-4D97-AF65-F5344CB8AC3E}">
        <p14:creationId xmlns:p14="http://schemas.microsoft.com/office/powerpoint/2010/main" val="244513067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06B448D-D06A-1071-DDD2-C408E37E16FF}"/>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7DE6D0D0-057C-9F11-E7E4-E2EEE34A9444}"/>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5CEF3A38-C6F4-FCD3-C66D-77F596A4D2C1}"/>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F60722B1-4421-FF5E-69DD-B7A1BC5A3046}"/>
              </a:ext>
            </a:extLst>
          </p:cNvPr>
          <p:cNvSpPr>
            <a:spLocks noGrp="1"/>
          </p:cNvSpPr>
          <p:nvPr>
            <p:ph type="dt" sz="half" idx="10"/>
          </p:nvPr>
        </p:nvSpPr>
        <p:spPr/>
        <p:txBody>
          <a:bodyPr/>
          <a:lstStyle/>
          <a:p>
            <a:fld id="{4C8FD783-4D4E-7D44-8B7E-358D45B61D7D}" type="datetimeFigureOut">
              <a:rPr lang="en-US" smtClean="0"/>
              <a:t>5/26/26</a:t>
            </a:fld>
            <a:endParaRPr lang="en-US"/>
          </a:p>
        </p:txBody>
      </p:sp>
      <p:sp>
        <p:nvSpPr>
          <p:cNvPr id="6" name="Footer Placeholder 5">
            <a:extLst>
              <a:ext uri="{FF2B5EF4-FFF2-40B4-BE49-F238E27FC236}">
                <a16:creationId xmlns:a16="http://schemas.microsoft.com/office/drawing/2014/main" id="{3E350C74-3E7B-EC01-AC78-82234AB84C09}"/>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6AA86A07-DE88-CB34-A21B-3FA172EFAFEE}"/>
              </a:ext>
            </a:extLst>
          </p:cNvPr>
          <p:cNvSpPr>
            <a:spLocks noGrp="1"/>
          </p:cNvSpPr>
          <p:nvPr>
            <p:ph type="sldNum" sz="quarter" idx="12"/>
          </p:nvPr>
        </p:nvSpPr>
        <p:spPr/>
        <p:txBody>
          <a:bodyPr/>
          <a:lstStyle/>
          <a:p>
            <a:fld id="{B8AFEDC1-9B7D-B04D-A62A-C20C311CCD12}" type="slidenum">
              <a:rPr lang="en-US" smtClean="0"/>
              <a:t>‹#›</a:t>
            </a:fld>
            <a:endParaRPr lang="en-US"/>
          </a:p>
        </p:txBody>
      </p:sp>
    </p:spTree>
    <p:extLst>
      <p:ext uri="{BB962C8B-B14F-4D97-AF65-F5344CB8AC3E}">
        <p14:creationId xmlns:p14="http://schemas.microsoft.com/office/powerpoint/2010/main" val="269402699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9DA3FBD-A616-9D46-497A-FCA078CFA0B6}"/>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1B6534A4-902D-EFE4-D6B7-40606D121445}"/>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9AC0B372-9F07-4660-A176-69698525F33F}"/>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1904299B-2ED4-09D1-9593-312CBC440EA8}"/>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616CDAB0-B76E-84E8-55BC-34B466855CFC}"/>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AED042E0-D309-6C40-CEFC-1FB2E0E5897D}"/>
              </a:ext>
            </a:extLst>
          </p:cNvPr>
          <p:cNvSpPr>
            <a:spLocks noGrp="1"/>
          </p:cNvSpPr>
          <p:nvPr>
            <p:ph type="dt" sz="half" idx="10"/>
          </p:nvPr>
        </p:nvSpPr>
        <p:spPr/>
        <p:txBody>
          <a:bodyPr/>
          <a:lstStyle/>
          <a:p>
            <a:fld id="{4C8FD783-4D4E-7D44-8B7E-358D45B61D7D}" type="datetimeFigureOut">
              <a:rPr lang="en-US" smtClean="0"/>
              <a:t>5/26/26</a:t>
            </a:fld>
            <a:endParaRPr lang="en-US"/>
          </a:p>
        </p:txBody>
      </p:sp>
      <p:sp>
        <p:nvSpPr>
          <p:cNvPr id="8" name="Footer Placeholder 7">
            <a:extLst>
              <a:ext uri="{FF2B5EF4-FFF2-40B4-BE49-F238E27FC236}">
                <a16:creationId xmlns:a16="http://schemas.microsoft.com/office/drawing/2014/main" id="{E99B1E5F-139E-F39A-5509-85C242F48DC1}"/>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CBC1B1CE-7493-378F-FF51-2E562389BE4F}"/>
              </a:ext>
            </a:extLst>
          </p:cNvPr>
          <p:cNvSpPr>
            <a:spLocks noGrp="1"/>
          </p:cNvSpPr>
          <p:nvPr>
            <p:ph type="sldNum" sz="quarter" idx="12"/>
          </p:nvPr>
        </p:nvSpPr>
        <p:spPr/>
        <p:txBody>
          <a:bodyPr/>
          <a:lstStyle/>
          <a:p>
            <a:fld id="{B8AFEDC1-9B7D-B04D-A62A-C20C311CCD12}" type="slidenum">
              <a:rPr lang="en-US" smtClean="0"/>
              <a:t>‹#›</a:t>
            </a:fld>
            <a:endParaRPr lang="en-US"/>
          </a:p>
        </p:txBody>
      </p:sp>
    </p:spTree>
    <p:extLst>
      <p:ext uri="{BB962C8B-B14F-4D97-AF65-F5344CB8AC3E}">
        <p14:creationId xmlns:p14="http://schemas.microsoft.com/office/powerpoint/2010/main" val="408239672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9A9808A-12BE-2484-09DE-6AF0AEAFEE73}"/>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066AC58D-7D48-FA3A-1E48-ABF089DB8247}"/>
              </a:ext>
            </a:extLst>
          </p:cNvPr>
          <p:cNvSpPr>
            <a:spLocks noGrp="1"/>
          </p:cNvSpPr>
          <p:nvPr>
            <p:ph type="dt" sz="half" idx="10"/>
          </p:nvPr>
        </p:nvSpPr>
        <p:spPr/>
        <p:txBody>
          <a:bodyPr/>
          <a:lstStyle/>
          <a:p>
            <a:fld id="{4C8FD783-4D4E-7D44-8B7E-358D45B61D7D}" type="datetimeFigureOut">
              <a:rPr lang="en-US" smtClean="0"/>
              <a:t>5/26/26</a:t>
            </a:fld>
            <a:endParaRPr lang="en-US"/>
          </a:p>
        </p:txBody>
      </p:sp>
      <p:sp>
        <p:nvSpPr>
          <p:cNvPr id="4" name="Footer Placeholder 3">
            <a:extLst>
              <a:ext uri="{FF2B5EF4-FFF2-40B4-BE49-F238E27FC236}">
                <a16:creationId xmlns:a16="http://schemas.microsoft.com/office/drawing/2014/main" id="{C2891345-66CC-46C8-5282-096ED5F5B25E}"/>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823780FF-6356-4360-5157-395B8141D054}"/>
              </a:ext>
            </a:extLst>
          </p:cNvPr>
          <p:cNvSpPr>
            <a:spLocks noGrp="1"/>
          </p:cNvSpPr>
          <p:nvPr>
            <p:ph type="sldNum" sz="quarter" idx="12"/>
          </p:nvPr>
        </p:nvSpPr>
        <p:spPr/>
        <p:txBody>
          <a:bodyPr/>
          <a:lstStyle/>
          <a:p>
            <a:fld id="{B8AFEDC1-9B7D-B04D-A62A-C20C311CCD12}" type="slidenum">
              <a:rPr lang="en-US" smtClean="0"/>
              <a:t>‹#›</a:t>
            </a:fld>
            <a:endParaRPr lang="en-US"/>
          </a:p>
        </p:txBody>
      </p:sp>
    </p:spTree>
    <p:extLst>
      <p:ext uri="{BB962C8B-B14F-4D97-AF65-F5344CB8AC3E}">
        <p14:creationId xmlns:p14="http://schemas.microsoft.com/office/powerpoint/2010/main" val="311295265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8DC9453F-FCEA-FA14-0266-FBB112C4732E}"/>
              </a:ext>
            </a:extLst>
          </p:cNvPr>
          <p:cNvSpPr>
            <a:spLocks noGrp="1"/>
          </p:cNvSpPr>
          <p:nvPr>
            <p:ph type="dt" sz="half" idx="10"/>
          </p:nvPr>
        </p:nvSpPr>
        <p:spPr/>
        <p:txBody>
          <a:bodyPr/>
          <a:lstStyle/>
          <a:p>
            <a:fld id="{4C8FD783-4D4E-7D44-8B7E-358D45B61D7D}" type="datetimeFigureOut">
              <a:rPr lang="en-US" smtClean="0"/>
              <a:t>5/26/26</a:t>
            </a:fld>
            <a:endParaRPr lang="en-US"/>
          </a:p>
        </p:txBody>
      </p:sp>
      <p:sp>
        <p:nvSpPr>
          <p:cNvPr id="3" name="Footer Placeholder 2">
            <a:extLst>
              <a:ext uri="{FF2B5EF4-FFF2-40B4-BE49-F238E27FC236}">
                <a16:creationId xmlns:a16="http://schemas.microsoft.com/office/drawing/2014/main" id="{B09A615F-2418-B060-0DDE-0240DB46F5A1}"/>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F59D3865-1D34-E4FE-B3F4-775237E5BC43}"/>
              </a:ext>
            </a:extLst>
          </p:cNvPr>
          <p:cNvSpPr>
            <a:spLocks noGrp="1"/>
          </p:cNvSpPr>
          <p:nvPr>
            <p:ph type="sldNum" sz="quarter" idx="12"/>
          </p:nvPr>
        </p:nvSpPr>
        <p:spPr/>
        <p:txBody>
          <a:bodyPr/>
          <a:lstStyle/>
          <a:p>
            <a:fld id="{B8AFEDC1-9B7D-B04D-A62A-C20C311CCD12}" type="slidenum">
              <a:rPr lang="en-US" smtClean="0"/>
              <a:t>‹#›</a:t>
            </a:fld>
            <a:endParaRPr lang="en-US"/>
          </a:p>
        </p:txBody>
      </p:sp>
    </p:spTree>
    <p:extLst>
      <p:ext uri="{BB962C8B-B14F-4D97-AF65-F5344CB8AC3E}">
        <p14:creationId xmlns:p14="http://schemas.microsoft.com/office/powerpoint/2010/main" val="125011365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F002524-B4BF-A56A-64B5-769A8ADB0C4A}"/>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CD978225-4980-B8CC-39CF-2BF7EADED726}"/>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708CC8EF-AC94-DC43-6054-90E790E4B239}"/>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918960EE-E240-E5FB-A83C-CD88564F763D}"/>
              </a:ext>
            </a:extLst>
          </p:cNvPr>
          <p:cNvSpPr>
            <a:spLocks noGrp="1"/>
          </p:cNvSpPr>
          <p:nvPr>
            <p:ph type="dt" sz="half" idx="10"/>
          </p:nvPr>
        </p:nvSpPr>
        <p:spPr/>
        <p:txBody>
          <a:bodyPr/>
          <a:lstStyle/>
          <a:p>
            <a:fld id="{4C8FD783-4D4E-7D44-8B7E-358D45B61D7D}" type="datetimeFigureOut">
              <a:rPr lang="en-US" smtClean="0"/>
              <a:t>5/26/26</a:t>
            </a:fld>
            <a:endParaRPr lang="en-US"/>
          </a:p>
        </p:txBody>
      </p:sp>
      <p:sp>
        <p:nvSpPr>
          <p:cNvPr id="6" name="Footer Placeholder 5">
            <a:extLst>
              <a:ext uri="{FF2B5EF4-FFF2-40B4-BE49-F238E27FC236}">
                <a16:creationId xmlns:a16="http://schemas.microsoft.com/office/drawing/2014/main" id="{B78F1A5F-6802-E944-AB1F-47B0B0C21939}"/>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06C7CC52-3B70-78C5-D598-13AC5F55A6F1}"/>
              </a:ext>
            </a:extLst>
          </p:cNvPr>
          <p:cNvSpPr>
            <a:spLocks noGrp="1"/>
          </p:cNvSpPr>
          <p:nvPr>
            <p:ph type="sldNum" sz="quarter" idx="12"/>
          </p:nvPr>
        </p:nvSpPr>
        <p:spPr/>
        <p:txBody>
          <a:bodyPr/>
          <a:lstStyle/>
          <a:p>
            <a:fld id="{B8AFEDC1-9B7D-B04D-A62A-C20C311CCD12}" type="slidenum">
              <a:rPr lang="en-US" smtClean="0"/>
              <a:t>‹#›</a:t>
            </a:fld>
            <a:endParaRPr lang="en-US"/>
          </a:p>
        </p:txBody>
      </p:sp>
    </p:spTree>
    <p:extLst>
      <p:ext uri="{BB962C8B-B14F-4D97-AF65-F5344CB8AC3E}">
        <p14:creationId xmlns:p14="http://schemas.microsoft.com/office/powerpoint/2010/main" val="68250469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D425B9-588E-1B72-EC44-42E4FF6029BC}"/>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5455F9DC-65A5-328C-EDB5-FF6648E5AF68}"/>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46D3AE16-9E59-E24B-A74F-CBE02EE960B4}"/>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8D9509F4-7325-39C9-384E-729863FF3EEE}"/>
              </a:ext>
            </a:extLst>
          </p:cNvPr>
          <p:cNvSpPr>
            <a:spLocks noGrp="1"/>
          </p:cNvSpPr>
          <p:nvPr>
            <p:ph type="dt" sz="half" idx="10"/>
          </p:nvPr>
        </p:nvSpPr>
        <p:spPr/>
        <p:txBody>
          <a:bodyPr/>
          <a:lstStyle/>
          <a:p>
            <a:fld id="{4C8FD783-4D4E-7D44-8B7E-358D45B61D7D}" type="datetimeFigureOut">
              <a:rPr lang="en-US" smtClean="0"/>
              <a:t>5/26/26</a:t>
            </a:fld>
            <a:endParaRPr lang="en-US"/>
          </a:p>
        </p:txBody>
      </p:sp>
      <p:sp>
        <p:nvSpPr>
          <p:cNvPr id="6" name="Footer Placeholder 5">
            <a:extLst>
              <a:ext uri="{FF2B5EF4-FFF2-40B4-BE49-F238E27FC236}">
                <a16:creationId xmlns:a16="http://schemas.microsoft.com/office/drawing/2014/main" id="{6321B682-FEC7-2296-D213-FABC14037D74}"/>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AE57570C-218F-7370-D2D1-E039B0A3FFF5}"/>
              </a:ext>
            </a:extLst>
          </p:cNvPr>
          <p:cNvSpPr>
            <a:spLocks noGrp="1"/>
          </p:cNvSpPr>
          <p:nvPr>
            <p:ph type="sldNum" sz="quarter" idx="12"/>
          </p:nvPr>
        </p:nvSpPr>
        <p:spPr/>
        <p:txBody>
          <a:bodyPr/>
          <a:lstStyle/>
          <a:p>
            <a:fld id="{B8AFEDC1-9B7D-B04D-A62A-C20C311CCD12}" type="slidenum">
              <a:rPr lang="en-US" smtClean="0"/>
              <a:t>‹#›</a:t>
            </a:fld>
            <a:endParaRPr lang="en-US"/>
          </a:p>
        </p:txBody>
      </p:sp>
    </p:spTree>
    <p:extLst>
      <p:ext uri="{BB962C8B-B14F-4D97-AF65-F5344CB8AC3E}">
        <p14:creationId xmlns:p14="http://schemas.microsoft.com/office/powerpoint/2010/main" val="29336217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0A60161-6E55-E902-2AEF-DFC947234AF3}"/>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96C02065-0B45-6239-DF24-3AA4222B6A52}"/>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579F413-D33F-7320-04BF-2E07D3D50523}"/>
              </a:ext>
            </a:extLst>
          </p:cNvPr>
          <p:cNvSpPr>
            <a:spLocks noGrp="1"/>
          </p:cNvSpPr>
          <p:nvPr>
            <p:ph type="dt" sz="half" idx="10"/>
          </p:nvPr>
        </p:nvSpPr>
        <p:spPr/>
        <p:txBody>
          <a:bodyPr/>
          <a:lstStyle/>
          <a:p>
            <a:fld id="{4C8FD783-4D4E-7D44-8B7E-358D45B61D7D}" type="datetimeFigureOut">
              <a:rPr lang="en-US" smtClean="0"/>
              <a:t>5/26/26</a:t>
            </a:fld>
            <a:endParaRPr lang="en-US"/>
          </a:p>
        </p:txBody>
      </p:sp>
      <p:sp>
        <p:nvSpPr>
          <p:cNvPr id="5" name="Footer Placeholder 4">
            <a:extLst>
              <a:ext uri="{FF2B5EF4-FFF2-40B4-BE49-F238E27FC236}">
                <a16:creationId xmlns:a16="http://schemas.microsoft.com/office/drawing/2014/main" id="{41EDC7D7-6099-CF8D-3A96-B224EFEE8F2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0A785AE6-217A-EF04-6413-73DED5D2B784}"/>
              </a:ext>
            </a:extLst>
          </p:cNvPr>
          <p:cNvSpPr>
            <a:spLocks noGrp="1"/>
          </p:cNvSpPr>
          <p:nvPr>
            <p:ph type="sldNum" sz="quarter" idx="12"/>
          </p:nvPr>
        </p:nvSpPr>
        <p:spPr/>
        <p:txBody>
          <a:bodyPr/>
          <a:lstStyle/>
          <a:p>
            <a:fld id="{B8AFEDC1-9B7D-B04D-A62A-C20C311CCD12}" type="slidenum">
              <a:rPr lang="en-US" smtClean="0"/>
              <a:t>‹#›</a:t>
            </a:fld>
            <a:endParaRPr lang="en-US"/>
          </a:p>
        </p:txBody>
      </p:sp>
    </p:spTree>
    <p:extLst>
      <p:ext uri="{BB962C8B-B14F-4D97-AF65-F5344CB8AC3E}">
        <p14:creationId xmlns:p14="http://schemas.microsoft.com/office/powerpoint/2010/main" val="401381722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5119CA92-EC94-AFAE-DC49-E5FC8239DE96}"/>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27CC7325-7A2B-2929-DAF3-097B35868404}"/>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63B5972E-4968-0F48-BB50-AA243B8DBD91}"/>
              </a:ext>
            </a:extLst>
          </p:cNvPr>
          <p:cNvSpPr>
            <a:spLocks noGrp="1"/>
          </p:cNvSpPr>
          <p:nvPr>
            <p:ph type="dt" sz="half" idx="10"/>
          </p:nvPr>
        </p:nvSpPr>
        <p:spPr/>
        <p:txBody>
          <a:bodyPr/>
          <a:lstStyle/>
          <a:p>
            <a:fld id="{4C8FD783-4D4E-7D44-8B7E-358D45B61D7D}" type="datetimeFigureOut">
              <a:rPr lang="en-US" smtClean="0"/>
              <a:t>5/26/26</a:t>
            </a:fld>
            <a:endParaRPr lang="en-US"/>
          </a:p>
        </p:txBody>
      </p:sp>
      <p:sp>
        <p:nvSpPr>
          <p:cNvPr id="5" name="Footer Placeholder 4">
            <a:extLst>
              <a:ext uri="{FF2B5EF4-FFF2-40B4-BE49-F238E27FC236}">
                <a16:creationId xmlns:a16="http://schemas.microsoft.com/office/drawing/2014/main" id="{583CC4DA-2457-820A-F0FA-5F5BB28C396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33EE9DF-5C3E-3B9A-8069-1912CA6640CF}"/>
              </a:ext>
            </a:extLst>
          </p:cNvPr>
          <p:cNvSpPr>
            <a:spLocks noGrp="1"/>
          </p:cNvSpPr>
          <p:nvPr>
            <p:ph type="sldNum" sz="quarter" idx="12"/>
          </p:nvPr>
        </p:nvSpPr>
        <p:spPr/>
        <p:txBody>
          <a:bodyPr/>
          <a:lstStyle/>
          <a:p>
            <a:fld id="{B8AFEDC1-9B7D-B04D-A62A-C20C311CCD12}" type="slidenum">
              <a:rPr lang="en-US" smtClean="0"/>
              <a:t>‹#›</a:t>
            </a:fld>
            <a:endParaRPr lang="en-US"/>
          </a:p>
        </p:txBody>
      </p:sp>
    </p:spTree>
    <p:extLst>
      <p:ext uri="{BB962C8B-B14F-4D97-AF65-F5344CB8AC3E}">
        <p14:creationId xmlns:p14="http://schemas.microsoft.com/office/powerpoint/2010/main" val="12279040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7C3F7832-7288-AE73-B384-FB07064AC938}"/>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129947BA-84A3-1CDF-C182-E733BBAA6CDA}"/>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AC02706C-026F-5308-9C40-4562608DDBE1}"/>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4C8FD783-4D4E-7D44-8B7E-358D45B61D7D}" type="datetimeFigureOut">
              <a:rPr lang="en-US" smtClean="0"/>
              <a:t>5/26/26</a:t>
            </a:fld>
            <a:endParaRPr lang="en-US"/>
          </a:p>
        </p:txBody>
      </p:sp>
      <p:sp>
        <p:nvSpPr>
          <p:cNvPr id="5" name="Footer Placeholder 4">
            <a:extLst>
              <a:ext uri="{FF2B5EF4-FFF2-40B4-BE49-F238E27FC236}">
                <a16:creationId xmlns:a16="http://schemas.microsoft.com/office/drawing/2014/main" id="{5F7218A7-C977-565C-E795-614CAF4475EE}"/>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F9BBBFFA-8916-BDB5-49AD-C88D8EA046B9}"/>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B8AFEDC1-9B7D-B04D-A62A-C20C311CCD12}" type="slidenum">
              <a:rPr lang="en-US" smtClean="0"/>
              <a:t>‹#›</a:t>
            </a:fld>
            <a:endParaRPr lang="en-US"/>
          </a:p>
        </p:txBody>
      </p:sp>
    </p:spTree>
    <p:extLst>
      <p:ext uri="{BB962C8B-B14F-4D97-AF65-F5344CB8AC3E}">
        <p14:creationId xmlns:p14="http://schemas.microsoft.com/office/powerpoint/2010/main" val="2995862903"/>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notesSlide" Target="../notesSlides/notesSlide2.xml"/><Relationship Id="rId1" Type="http://schemas.openxmlformats.org/officeDocument/2006/relationships/slideLayout" Target="../slideLayouts/slideLayout2.xml"/><Relationship Id="rId4" Type="http://schemas.openxmlformats.org/officeDocument/2006/relationships/image" Target="../media/image6.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04656D0-2941-BAC5-8476-DFB1AAF0EBC3}"/>
              </a:ext>
            </a:extLst>
          </p:cNvPr>
          <p:cNvSpPr>
            <a:spLocks noGrp="1"/>
          </p:cNvSpPr>
          <p:nvPr>
            <p:ph type="ctrTitle"/>
          </p:nvPr>
        </p:nvSpPr>
        <p:spPr/>
        <p:txBody>
          <a:bodyPr/>
          <a:lstStyle/>
          <a:p>
            <a:r>
              <a:rPr lang="en-US" dirty="0"/>
              <a:t>Demo 1: Genome-wide association studies</a:t>
            </a:r>
          </a:p>
        </p:txBody>
      </p:sp>
      <p:sp>
        <p:nvSpPr>
          <p:cNvPr id="3" name="Subtitle 2">
            <a:extLst>
              <a:ext uri="{FF2B5EF4-FFF2-40B4-BE49-F238E27FC236}">
                <a16:creationId xmlns:a16="http://schemas.microsoft.com/office/drawing/2014/main" id="{32D7B1E0-EC13-869E-CC8A-284F742234F5}"/>
              </a:ext>
            </a:extLst>
          </p:cNvPr>
          <p:cNvSpPr>
            <a:spLocks noGrp="1"/>
          </p:cNvSpPr>
          <p:nvPr>
            <p:ph type="subTitle" idx="1"/>
          </p:nvPr>
        </p:nvSpPr>
        <p:spPr/>
        <p:txBody>
          <a:bodyPr/>
          <a:lstStyle/>
          <a:p>
            <a:r>
              <a:rPr lang="en-US" dirty="0"/>
              <a:t>Ashlyn Anderson</a:t>
            </a:r>
          </a:p>
          <a:p>
            <a:r>
              <a:rPr lang="en-US" dirty="0"/>
              <a:t>PhD Candidate, Cochran lab</a:t>
            </a:r>
          </a:p>
          <a:p>
            <a:r>
              <a:rPr lang="en-US" dirty="0"/>
              <a:t>5/28/26</a:t>
            </a:r>
          </a:p>
        </p:txBody>
      </p:sp>
    </p:spTree>
    <p:extLst>
      <p:ext uri="{BB962C8B-B14F-4D97-AF65-F5344CB8AC3E}">
        <p14:creationId xmlns:p14="http://schemas.microsoft.com/office/powerpoint/2010/main" val="230835639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057" name="Rectangle 2056">
            <a:extLst>
              <a:ext uri="{FF2B5EF4-FFF2-40B4-BE49-F238E27FC236}">
                <a16:creationId xmlns:a16="http://schemas.microsoft.com/office/drawing/2014/main" id="{A4AC5506-6312-4701-8D3C-40187889A94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651752"/>
            <a:ext cx="12192000" cy="736551"/>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AB00BBC1-406D-98B1-DA56-27DAA95BEB6C}"/>
              </a:ext>
            </a:extLst>
          </p:cNvPr>
          <p:cNvSpPr>
            <a:spLocks noGrp="1"/>
          </p:cNvSpPr>
          <p:nvPr>
            <p:ph type="title"/>
          </p:nvPr>
        </p:nvSpPr>
        <p:spPr>
          <a:xfrm>
            <a:off x="556532" y="643467"/>
            <a:ext cx="11210925" cy="744836"/>
          </a:xfrm>
        </p:spPr>
        <p:txBody>
          <a:bodyPr vert="horz" lIns="91440" tIns="45720" rIns="91440" bIns="45720" rtlCol="0" anchor="ctr">
            <a:normAutofit/>
          </a:bodyPr>
          <a:lstStyle/>
          <a:p>
            <a:pPr algn="ctr"/>
            <a:r>
              <a:rPr lang="en-US" sz="3200" kern="1200" dirty="0">
                <a:solidFill>
                  <a:schemeClr val="bg1"/>
                </a:solidFill>
                <a:latin typeface="+mj-lt"/>
                <a:ea typeface="+mj-ea"/>
                <a:cs typeface="+mj-cs"/>
              </a:rPr>
              <a:t>Mendelian vs complex disorders</a:t>
            </a:r>
          </a:p>
        </p:txBody>
      </p:sp>
      <p:pic>
        <p:nvPicPr>
          <p:cNvPr id="2052" name="Picture 4" descr="Figure 1.  Comparison between rare monogenic and more common polygenic eye diseases. The red arrow illustrates the impact of each genetic change on disease development, with a wider arrow representing a greater impact. Monogenic conditions are caused by single, high-impact genetic variants, whereas the development of polygenic diseases is influenced by the combined effect of multiple, lower-impact genetic changes. The green arrow shows the extent to which environmental factors influence disease development, with a wider arrow representing a greater impact. Lifestyle, diet, and age can significantly influence disease risk in polygenic conditions, compared to the minimal environmental influence on monogenic diseases. Genetic testing for monogenic diseases looks for the presence of pathogenic (disease-causing) variants. In contrast, polygenic risk scores are derived from the cumulative effects of multiple single nucleotide polymorphisms to assess the risk of polygenic conditions. In the general population, pathogenic variants causing monogenic diseases are rare, while single nucleotide polymorphisms for polygenic diseases are common. Some icons within the figure were created with Biorender.com.">
            <a:extLst>
              <a:ext uri="{FF2B5EF4-FFF2-40B4-BE49-F238E27FC236}">
                <a16:creationId xmlns:a16="http://schemas.microsoft.com/office/drawing/2014/main" id="{4B732F55-73A3-1115-1EFB-A60ED3DB31B1}"/>
              </a:ext>
            </a:extLst>
          </p:cNvPr>
          <p:cNvPicPr>
            <a:picLocks noChangeAspect="1" noChangeArrowheads="1"/>
          </p:cNvPicPr>
          <p:nvPr/>
        </p:nvPicPr>
        <p:blipFill>
          <a:blip r:embed="rId2">
            <a:extLst>
              <a:ext uri="{28A0092B-C50C-407E-A947-70E740481C1C}">
                <a14:useLocalDpi xmlns:a14="http://schemas.microsoft.com/office/drawing/2010/main" val="0"/>
              </a:ext>
            </a:extLst>
          </a:blip>
          <a:stretch>
            <a:fillRect/>
          </a:stretch>
        </p:blipFill>
        <p:spPr bwMode="auto">
          <a:xfrm>
            <a:off x="1950529" y="1675227"/>
            <a:ext cx="8290941" cy="439419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90127337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6753252F-4873-4F63-801D-CC719279A7D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rgbClr val="FFFF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047C8CCB-F95D-4249-92DD-651249D3535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2013557" cy="6858000"/>
          </a:xfrm>
          <a:prstGeom prst="rect">
            <a:avLst/>
          </a:prstGeom>
          <a:solidFill>
            <a:srgbClr val="4C5F7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4D49869D-9B55-F0E2-F796-7A24836C2A73}"/>
              </a:ext>
            </a:extLst>
          </p:cNvPr>
          <p:cNvSpPr>
            <a:spLocks noGrp="1"/>
          </p:cNvSpPr>
          <p:nvPr>
            <p:ph type="title"/>
          </p:nvPr>
        </p:nvSpPr>
        <p:spPr>
          <a:xfrm>
            <a:off x="640080" y="2074363"/>
            <a:ext cx="2752354" cy="2709275"/>
          </a:xfrm>
          <a:prstGeom prst="ellipse">
            <a:avLst/>
          </a:prstGeom>
          <a:solidFill>
            <a:srgbClr val="262626"/>
          </a:solidFill>
          <a:ln w="174625" cmpd="thinThick">
            <a:solidFill>
              <a:srgbClr val="262626"/>
            </a:solidFill>
          </a:ln>
        </p:spPr>
        <p:txBody>
          <a:bodyPr vert="horz" lIns="91440" tIns="45720" rIns="91440" bIns="45720" rtlCol="0" anchor="ctr">
            <a:normAutofit/>
          </a:bodyPr>
          <a:lstStyle/>
          <a:p>
            <a:pPr algn="ctr"/>
            <a:r>
              <a:rPr lang="en-US" sz="2600" kern="1200" dirty="0">
                <a:solidFill>
                  <a:srgbClr val="FFFFFF"/>
                </a:solidFill>
                <a:latin typeface="+mj-lt"/>
                <a:ea typeface="+mj-ea"/>
                <a:cs typeface="+mj-cs"/>
              </a:rPr>
              <a:t>Genome-wide association studies</a:t>
            </a:r>
          </a:p>
        </p:txBody>
      </p:sp>
      <p:pic>
        <p:nvPicPr>
          <p:cNvPr id="5" name="Content Placeholder 4">
            <a:extLst>
              <a:ext uri="{FF2B5EF4-FFF2-40B4-BE49-F238E27FC236}">
                <a16:creationId xmlns:a16="http://schemas.microsoft.com/office/drawing/2014/main" id="{F02869A5-0C77-8350-6E3B-545657502FAE}"/>
              </a:ext>
            </a:extLst>
          </p:cNvPr>
          <p:cNvPicPr>
            <a:picLocks noGrp="1" noChangeAspect="1"/>
          </p:cNvPicPr>
          <p:nvPr>
            <p:ph idx="1"/>
          </p:nvPr>
        </p:nvPicPr>
        <p:blipFill>
          <a:blip r:embed="rId2"/>
          <a:stretch>
            <a:fillRect/>
          </a:stretch>
        </p:blipFill>
        <p:spPr>
          <a:xfrm>
            <a:off x="4340521" y="410968"/>
            <a:ext cx="7112248" cy="6294341"/>
          </a:xfrm>
          <a:prstGeom prst="rect">
            <a:avLst/>
          </a:prstGeom>
        </p:spPr>
      </p:pic>
      <p:sp>
        <p:nvSpPr>
          <p:cNvPr id="6" name="TextBox 5">
            <a:extLst>
              <a:ext uri="{FF2B5EF4-FFF2-40B4-BE49-F238E27FC236}">
                <a16:creationId xmlns:a16="http://schemas.microsoft.com/office/drawing/2014/main" id="{71E8C881-8F4B-F299-F41E-B12DA49FE41B}"/>
              </a:ext>
            </a:extLst>
          </p:cNvPr>
          <p:cNvSpPr txBox="1"/>
          <p:nvPr/>
        </p:nvSpPr>
        <p:spPr>
          <a:xfrm>
            <a:off x="10302276" y="6556156"/>
            <a:ext cx="1895968" cy="307777"/>
          </a:xfrm>
          <a:prstGeom prst="rect">
            <a:avLst/>
          </a:prstGeom>
          <a:noFill/>
        </p:spPr>
        <p:txBody>
          <a:bodyPr wrap="none" rtlCol="0">
            <a:spAutoFit/>
          </a:bodyPr>
          <a:lstStyle/>
          <a:p>
            <a:r>
              <a:rPr lang="en-US" sz="1400" dirty="0"/>
              <a:t>Uffelmann et al., 2021</a:t>
            </a:r>
          </a:p>
        </p:txBody>
      </p:sp>
    </p:spTree>
    <p:extLst>
      <p:ext uri="{BB962C8B-B14F-4D97-AF65-F5344CB8AC3E}">
        <p14:creationId xmlns:p14="http://schemas.microsoft.com/office/powerpoint/2010/main" val="34964537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97B2C70B-9A25-07DF-5124-98B7201E5FCC}"/>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89A0486E-310B-7D21-18BC-E532DBB5CDB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rgbClr val="FFFF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5C924408-DEE0-1E5D-7883-CF6B878FA97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2013557" cy="6858000"/>
          </a:xfrm>
          <a:prstGeom prst="rect">
            <a:avLst/>
          </a:prstGeom>
          <a:solidFill>
            <a:srgbClr val="4C5F7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7FD4CDCA-93C7-AF7F-602D-E93A55EF0FC8}"/>
              </a:ext>
            </a:extLst>
          </p:cNvPr>
          <p:cNvSpPr>
            <a:spLocks noGrp="1"/>
          </p:cNvSpPr>
          <p:nvPr>
            <p:ph type="title"/>
          </p:nvPr>
        </p:nvSpPr>
        <p:spPr>
          <a:xfrm>
            <a:off x="640080" y="2074363"/>
            <a:ext cx="2752354" cy="2709275"/>
          </a:xfrm>
          <a:prstGeom prst="ellipse">
            <a:avLst/>
          </a:prstGeom>
          <a:solidFill>
            <a:srgbClr val="262626"/>
          </a:solidFill>
          <a:ln w="174625" cmpd="thinThick">
            <a:solidFill>
              <a:srgbClr val="262626"/>
            </a:solidFill>
          </a:ln>
        </p:spPr>
        <p:txBody>
          <a:bodyPr vert="horz" lIns="91440" tIns="45720" rIns="91440" bIns="45720" rtlCol="0" anchor="ctr">
            <a:normAutofit/>
          </a:bodyPr>
          <a:lstStyle/>
          <a:p>
            <a:pPr algn="ctr"/>
            <a:r>
              <a:rPr lang="en-US" sz="2600" kern="1200" dirty="0">
                <a:solidFill>
                  <a:srgbClr val="FFFFFF"/>
                </a:solidFill>
                <a:latin typeface="+mj-lt"/>
                <a:ea typeface="+mj-ea"/>
                <a:cs typeface="+mj-cs"/>
              </a:rPr>
              <a:t>Genome-wide association studies</a:t>
            </a:r>
          </a:p>
        </p:txBody>
      </p:sp>
      <p:pic>
        <p:nvPicPr>
          <p:cNvPr id="5" name="Content Placeholder 4">
            <a:extLst>
              <a:ext uri="{FF2B5EF4-FFF2-40B4-BE49-F238E27FC236}">
                <a16:creationId xmlns:a16="http://schemas.microsoft.com/office/drawing/2014/main" id="{D41FC90F-0E65-FA56-7940-0A0D3C7E9E36}"/>
              </a:ext>
            </a:extLst>
          </p:cNvPr>
          <p:cNvPicPr>
            <a:picLocks noGrp="1" noChangeAspect="1"/>
          </p:cNvPicPr>
          <p:nvPr>
            <p:ph idx="1"/>
          </p:nvPr>
        </p:nvPicPr>
        <p:blipFill>
          <a:blip r:embed="rId3"/>
          <a:stretch>
            <a:fillRect/>
          </a:stretch>
        </p:blipFill>
        <p:spPr>
          <a:xfrm>
            <a:off x="4340521" y="410968"/>
            <a:ext cx="7112248" cy="6294341"/>
          </a:xfrm>
          <a:prstGeom prst="rect">
            <a:avLst/>
          </a:prstGeom>
        </p:spPr>
      </p:pic>
      <p:sp>
        <p:nvSpPr>
          <p:cNvPr id="3" name="Rectangle 2">
            <a:extLst>
              <a:ext uri="{FF2B5EF4-FFF2-40B4-BE49-F238E27FC236}">
                <a16:creationId xmlns:a16="http://schemas.microsoft.com/office/drawing/2014/main" id="{AC8B7349-72AA-B0E1-FC58-FA71BF198461}"/>
              </a:ext>
            </a:extLst>
          </p:cNvPr>
          <p:cNvSpPr/>
          <p:nvPr/>
        </p:nvSpPr>
        <p:spPr>
          <a:xfrm>
            <a:off x="7777908" y="2426464"/>
            <a:ext cx="3774011" cy="2357173"/>
          </a:xfrm>
          <a:prstGeom prst="rect">
            <a:avLst/>
          </a:prstGeom>
          <a:noFill/>
          <a:ln w="762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5A3A06F9-A013-742C-4FB9-C6BF63409AB7}"/>
              </a:ext>
            </a:extLst>
          </p:cNvPr>
          <p:cNvSpPr txBox="1"/>
          <p:nvPr/>
        </p:nvSpPr>
        <p:spPr>
          <a:xfrm>
            <a:off x="10302276" y="6556156"/>
            <a:ext cx="1895968" cy="307777"/>
          </a:xfrm>
          <a:prstGeom prst="rect">
            <a:avLst/>
          </a:prstGeom>
          <a:noFill/>
        </p:spPr>
        <p:txBody>
          <a:bodyPr wrap="none" rtlCol="0">
            <a:spAutoFit/>
          </a:bodyPr>
          <a:lstStyle/>
          <a:p>
            <a:r>
              <a:rPr lang="en-US" sz="1400" dirty="0"/>
              <a:t>Uffelmann et al., 2021</a:t>
            </a:r>
          </a:p>
        </p:txBody>
      </p:sp>
    </p:spTree>
    <p:extLst>
      <p:ext uri="{BB962C8B-B14F-4D97-AF65-F5344CB8AC3E}">
        <p14:creationId xmlns:p14="http://schemas.microsoft.com/office/powerpoint/2010/main" val="163845979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2" name="Rectangle 11">
            <a:extLst>
              <a:ext uri="{FF2B5EF4-FFF2-40B4-BE49-F238E27FC236}">
                <a16:creationId xmlns:a16="http://schemas.microsoft.com/office/drawing/2014/main" id="{2151139A-886F-4B97-8815-729AD3831BB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000"/>
          </a:p>
        </p:txBody>
      </p:sp>
      <p:sp>
        <p:nvSpPr>
          <p:cNvPr id="14" name="Rectangle 13">
            <a:extLst>
              <a:ext uri="{FF2B5EF4-FFF2-40B4-BE49-F238E27FC236}">
                <a16:creationId xmlns:a16="http://schemas.microsoft.com/office/drawing/2014/main" id="{AB5E08C4-8CDD-4623-A5B8-E998C6DEE3B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2" y="492"/>
            <a:ext cx="12191998" cy="1575955"/>
          </a:xfrm>
          <a:prstGeom prst="rect">
            <a:avLst/>
          </a:prstGeom>
          <a:gradFill>
            <a:gsLst>
              <a:gs pos="0">
                <a:schemeClr val="accent1">
                  <a:lumMod val="50000"/>
                </a:schemeClr>
              </a:gs>
              <a:gs pos="100000">
                <a:schemeClr val="accent1">
                  <a:lumMod val="7500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15F33878-D502-4FFA-8ACE-F2AECDB2A23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8128857" y="35"/>
            <a:ext cx="4063143" cy="1576412"/>
          </a:xfrm>
          <a:prstGeom prst="rect">
            <a:avLst/>
          </a:prstGeom>
          <a:gradFill>
            <a:gsLst>
              <a:gs pos="19000">
                <a:schemeClr val="accent1">
                  <a:lumMod val="50000"/>
                  <a:alpha val="68000"/>
                </a:schemeClr>
              </a:gs>
              <a:gs pos="100000">
                <a:schemeClr val="accent1">
                  <a:alpha val="79000"/>
                </a:schemeClr>
              </a:gs>
            </a:gsLst>
            <a:lin ang="19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Rectangle 17">
            <a:extLst>
              <a:ext uri="{FF2B5EF4-FFF2-40B4-BE49-F238E27FC236}">
                <a16:creationId xmlns:a16="http://schemas.microsoft.com/office/drawing/2014/main" id="{D3539FEE-81D3-4406-802E-60B20B16F4F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5307778" y="-5307777"/>
            <a:ext cx="1576446" cy="12192001"/>
          </a:xfrm>
          <a:prstGeom prst="rect">
            <a:avLst/>
          </a:prstGeom>
          <a:gradFill>
            <a:gsLst>
              <a:gs pos="16000">
                <a:srgbClr val="000000">
                  <a:alpha val="0"/>
                </a:srgbClr>
              </a:gs>
              <a:gs pos="99000">
                <a:srgbClr val="000000">
                  <a:alpha val="87000"/>
                </a:srgbClr>
              </a:gs>
            </a:gsLst>
            <a:lin ang="11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0" name="Rectangle 19">
            <a:extLst>
              <a:ext uri="{FF2B5EF4-FFF2-40B4-BE49-F238E27FC236}">
                <a16:creationId xmlns:a16="http://schemas.microsoft.com/office/drawing/2014/main" id="{DC701763-729E-462F-A5A8-E0DEFEB1E2E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825434" y="986"/>
            <a:ext cx="4303422" cy="1575461"/>
          </a:xfrm>
          <a:prstGeom prst="rect">
            <a:avLst/>
          </a:prstGeom>
          <a:gradFill>
            <a:gsLst>
              <a:gs pos="0">
                <a:schemeClr val="accent1">
                  <a:alpha val="17000"/>
                </a:schemeClr>
              </a:gs>
              <a:gs pos="74000">
                <a:schemeClr val="accent1">
                  <a:lumMod val="50000"/>
                  <a:alpha val="0"/>
                </a:schemeClr>
              </a:gs>
            </a:gsLst>
            <a:lin ang="14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ABF25414-130E-8E01-F3AC-FC952F73D45F}"/>
              </a:ext>
            </a:extLst>
          </p:cNvPr>
          <p:cNvSpPr>
            <a:spLocks noGrp="1"/>
          </p:cNvSpPr>
          <p:nvPr>
            <p:ph type="title"/>
          </p:nvPr>
        </p:nvSpPr>
        <p:spPr>
          <a:xfrm>
            <a:off x="699714" y="353160"/>
            <a:ext cx="7091300" cy="898581"/>
          </a:xfrm>
        </p:spPr>
        <p:txBody>
          <a:bodyPr vert="horz" lIns="91440" tIns="45720" rIns="91440" bIns="45720" rtlCol="0" anchor="ctr">
            <a:normAutofit/>
          </a:bodyPr>
          <a:lstStyle/>
          <a:p>
            <a:r>
              <a:rPr lang="en-US" sz="4000" dirty="0">
                <a:solidFill>
                  <a:srgbClr val="FFFFFF"/>
                </a:solidFill>
              </a:rPr>
              <a:t>Interpreting GWAS</a:t>
            </a:r>
          </a:p>
        </p:txBody>
      </p:sp>
      <p:pic>
        <p:nvPicPr>
          <p:cNvPr id="5" name="Content Placeholder 4">
            <a:extLst>
              <a:ext uri="{FF2B5EF4-FFF2-40B4-BE49-F238E27FC236}">
                <a16:creationId xmlns:a16="http://schemas.microsoft.com/office/drawing/2014/main" id="{06249219-0B8A-1219-F510-1CFD3F87465F}"/>
              </a:ext>
            </a:extLst>
          </p:cNvPr>
          <p:cNvPicPr>
            <a:picLocks noGrp="1" noChangeAspect="1"/>
          </p:cNvPicPr>
          <p:nvPr>
            <p:ph idx="1"/>
          </p:nvPr>
        </p:nvPicPr>
        <p:blipFill>
          <a:blip r:embed="rId2"/>
          <a:stretch>
            <a:fillRect/>
          </a:stretch>
        </p:blipFill>
        <p:spPr>
          <a:xfrm>
            <a:off x="2168075" y="1701206"/>
            <a:ext cx="3626797" cy="4477529"/>
          </a:xfrm>
          <a:prstGeom prst="rect">
            <a:avLst/>
          </a:prstGeom>
        </p:spPr>
      </p:pic>
      <p:pic>
        <p:nvPicPr>
          <p:cNvPr id="7" name="Picture 6">
            <a:extLst>
              <a:ext uri="{FF2B5EF4-FFF2-40B4-BE49-F238E27FC236}">
                <a16:creationId xmlns:a16="http://schemas.microsoft.com/office/drawing/2014/main" id="{2E9876CB-84FA-7F98-C9A5-D02D635E5477}"/>
              </a:ext>
            </a:extLst>
          </p:cNvPr>
          <p:cNvPicPr>
            <a:picLocks noChangeAspect="1"/>
          </p:cNvPicPr>
          <p:nvPr/>
        </p:nvPicPr>
        <p:blipFill>
          <a:blip r:embed="rId3"/>
          <a:stretch>
            <a:fillRect/>
          </a:stretch>
        </p:blipFill>
        <p:spPr>
          <a:xfrm>
            <a:off x="6049558" y="1600467"/>
            <a:ext cx="3482912" cy="5198380"/>
          </a:xfrm>
          <a:prstGeom prst="rect">
            <a:avLst/>
          </a:prstGeom>
        </p:spPr>
      </p:pic>
      <p:sp>
        <p:nvSpPr>
          <p:cNvPr id="8" name="TextBox 7">
            <a:extLst>
              <a:ext uri="{FF2B5EF4-FFF2-40B4-BE49-F238E27FC236}">
                <a16:creationId xmlns:a16="http://schemas.microsoft.com/office/drawing/2014/main" id="{C0EB3A43-B7BD-B38E-5C7D-1890D5F1D202}"/>
              </a:ext>
            </a:extLst>
          </p:cNvPr>
          <p:cNvSpPr txBox="1"/>
          <p:nvPr/>
        </p:nvSpPr>
        <p:spPr>
          <a:xfrm>
            <a:off x="10302276" y="6556156"/>
            <a:ext cx="1895968" cy="307777"/>
          </a:xfrm>
          <a:prstGeom prst="rect">
            <a:avLst/>
          </a:prstGeom>
          <a:noFill/>
        </p:spPr>
        <p:txBody>
          <a:bodyPr wrap="none" rtlCol="0">
            <a:spAutoFit/>
          </a:bodyPr>
          <a:lstStyle/>
          <a:p>
            <a:r>
              <a:rPr lang="en-US" sz="1400" dirty="0"/>
              <a:t>Uffelmann et al., 2021</a:t>
            </a:r>
          </a:p>
        </p:txBody>
      </p:sp>
    </p:spTree>
    <p:extLst>
      <p:ext uri="{BB962C8B-B14F-4D97-AF65-F5344CB8AC3E}">
        <p14:creationId xmlns:p14="http://schemas.microsoft.com/office/powerpoint/2010/main" val="270739477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31" name="Rectangle 1030">
            <a:extLst>
              <a:ext uri="{FF2B5EF4-FFF2-40B4-BE49-F238E27FC236}">
                <a16:creationId xmlns:a16="http://schemas.microsoft.com/office/drawing/2014/main" id="{BACC6370-2D7E-4714-9D71-7542949D7D5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33" name="Rectangle 1032">
            <a:extLst>
              <a:ext uri="{FF2B5EF4-FFF2-40B4-BE49-F238E27FC236}">
                <a16:creationId xmlns:a16="http://schemas.microsoft.com/office/drawing/2014/main" id="{F68B3F68-107C-434F-AA38-110D5EA91B8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2" y="0"/>
            <a:ext cx="12191998" cy="1575955"/>
          </a:xfrm>
          <a:prstGeom prst="rect">
            <a:avLst/>
          </a:prstGeom>
          <a:gradFill>
            <a:gsLst>
              <a:gs pos="0">
                <a:srgbClr val="000000">
                  <a:alpha val="96000"/>
                </a:srgbClr>
              </a:gs>
              <a:gs pos="100000">
                <a:schemeClr val="accent1">
                  <a:lumMod val="7500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35" name="Rectangle 1034">
            <a:extLst>
              <a:ext uri="{FF2B5EF4-FFF2-40B4-BE49-F238E27FC236}">
                <a16:creationId xmlns:a16="http://schemas.microsoft.com/office/drawing/2014/main" id="{AAD0DBB9-1A4B-4391-81D4-CB19F9AB918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8128857" y="0"/>
            <a:ext cx="4063143" cy="1576412"/>
          </a:xfrm>
          <a:prstGeom prst="rect">
            <a:avLst/>
          </a:prstGeom>
          <a:gradFill>
            <a:gsLst>
              <a:gs pos="19000">
                <a:schemeClr val="accent1">
                  <a:lumMod val="50000"/>
                  <a:alpha val="68000"/>
                </a:schemeClr>
              </a:gs>
              <a:gs pos="100000">
                <a:schemeClr val="accent1">
                  <a:alpha val="79000"/>
                </a:schemeClr>
              </a:gs>
            </a:gsLst>
            <a:lin ang="19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37" name="Rectangle 1036">
            <a:extLst>
              <a:ext uri="{FF2B5EF4-FFF2-40B4-BE49-F238E27FC236}">
                <a16:creationId xmlns:a16="http://schemas.microsoft.com/office/drawing/2014/main" id="{063BBA22-50EA-4C4D-BE05-F1CE4E63AA5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5307777" y="-5307778"/>
            <a:ext cx="1576446" cy="12192002"/>
          </a:xfrm>
          <a:prstGeom prst="rect">
            <a:avLst/>
          </a:prstGeom>
          <a:gradFill>
            <a:gsLst>
              <a:gs pos="23000">
                <a:schemeClr val="accent1">
                  <a:alpha val="0"/>
                </a:schemeClr>
              </a:gs>
              <a:gs pos="99000">
                <a:srgbClr val="000000">
                  <a:alpha val="74000"/>
                </a:srgbClr>
              </a:gs>
            </a:gsLst>
            <a:lin ang="20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19963FC8-A9BF-C6C1-3FD9-AC75740BA166}"/>
              </a:ext>
            </a:extLst>
          </p:cNvPr>
          <p:cNvSpPr>
            <a:spLocks noGrp="1"/>
          </p:cNvSpPr>
          <p:nvPr>
            <p:ph type="title"/>
          </p:nvPr>
        </p:nvSpPr>
        <p:spPr>
          <a:xfrm>
            <a:off x="1371597" y="348865"/>
            <a:ext cx="10044023" cy="877729"/>
          </a:xfrm>
        </p:spPr>
        <p:txBody>
          <a:bodyPr anchor="ctr">
            <a:normAutofit/>
          </a:bodyPr>
          <a:lstStyle/>
          <a:p>
            <a:r>
              <a:rPr lang="en-US" sz="4000" b="1" dirty="0">
                <a:solidFill>
                  <a:srgbClr val="FFFFFF"/>
                </a:solidFill>
              </a:rPr>
              <a:t>Today’s Data: </a:t>
            </a:r>
            <a:r>
              <a:rPr lang="en-US" sz="4000" dirty="0" err="1">
                <a:solidFill>
                  <a:srgbClr val="FFFFFF"/>
                </a:solidFill>
              </a:rPr>
              <a:t>ReD</a:t>
            </a:r>
            <a:r>
              <a:rPr lang="en-US" sz="4000" dirty="0">
                <a:solidFill>
                  <a:srgbClr val="FFFFFF"/>
                </a:solidFill>
              </a:rPr>
              <a:t>-Lat</a:t>
            </a:r>
          </a:p>
        </p:txBody>
      </p:sp>
      <p:grpSp>
        <p:nvGrpSpPr>
          <p:cNvPr id="5" name="Group 4">
            <a:extLst>
              <a:ext uri="{FF2B5EF4-FFF2-40B4-BE49-F238E27FC236}">
                <a16:creationId xmlns:a16="http://schemas.microsoft.com/office/drawing/2014/main" id="{82AB4BBF-7A00-B6D4-69A2-02AF5FDE9671}"/>
              </a:ext>
            </a:extLst>
          </p:cNvPr>
          <p:cNvGrpSpPr/>
          <p:nvPr/>
        </p:nvGrpSpPr>
        <p:grpSpPr>
          <a:xfrm>
            <a:off x="5241165" y="2120329"/>
            <a:ext cx="5954317" cy="4192805"/>
            <a:chOff x="3886379" y="1844924"/>
            <a:chExt cx="6921168" cy="4873625"/>
          </a:xfrm>
        </p:grpSpPr>
        <p:pic>
          <p:nvPicPr>
            <p:cNvPr id="1026" name="Picture 2" descr="EN THE PROJECT » ReD-Lat">
              <a:extLst>
                <a:ext uri="{FF2B5EF4-FFF2-40B4-BE49-F238E27FC236}">
                  <a16:creationId xmlns:a16="http://schemas.microsoft.com/office/drawing/2014/main" id="{75732F2F-E7F3-3ADD-5DB5-2309E7E7B7FA}"/>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r="30662"/>
            <a:stretch>
              <a:fillRect/>
            </a:stretch>
          </p:blipFill>
          <p:spPr bwMode="auto">
            <a:xfrm>
              <a:off x="3886379" y="1844924"/>
              <a:ext cx="6568629" cy="4873625"/>
            </a:xfrm>
            <a:prstGeom prst="rect">
              <a:avLst/>
            </a:prstGeom>
            <a:noFill/>
            <a:extLst>
              <a:ext uri="{909E8E84-426E-40DD-AFC4-6F175D3DCCD1}">
                <a14:hiddenFill xmlns:a14="http://schemas.microsoft.com/office/drawing/2010/main">
                  <a:solidFill>
                    <a:srgbClr val="FFFFFF"/>
                  </a:solidFill>
                </a14:hiddenFill>
              </a:ext>
            </a:extLst>
          </p:spPr>
        </p:pic>
        <p:sp>
          <p:nvSpPr>
            <p:cNvPr id="4" name="Rectangle 3">
              <a:extLst>
                <a:ext uri="{FF2B5EF4-FFF2-40B4-BE49-F238E27FC236}">
                  <a16:creationId xmlns:a16="http://schemas.microsoft.com/office/drawing/2014/main" id="{429152B3-7F9D-8DF4-2200-82025835D935}"/>
                </a:ext>
              </a:extLst>
            </p:cNvPr>
            <p:cNvSpPr/>
            <p:nvPr/>
          </p:nvSpPr>
          <p:spPr>
            <a:xfrm>
              <a:off x="8956713" y="5144877"/>
              <a:ext cx="1850834" cy="815248"/>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pic>
        <p:nvPicPr>
          <p:cNvPr id="1028" name="Picture 4" descr="EN HOME » ReD-Lat">
            <a:extLst>
              <a:ext uri="{FF2B5EF4-FFF2-40B4-BE49-F238E27FC236}">
                <a16:creationId xmlns:a16="http://schemas.microsoft.com/office/drawing/2014/main" id="{5E0F126A-5110-5BBE-F42D-BB4296DFFF09}"/>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659881" y="3307814"/>
            <a:ext cx="3606800" cy="12065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312614410"/>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1361</TotalTime>
  <Words>47</Words>
  <Application>Microsoft Macintosh PowerPoint</Application>
  <PresentationFormat>Widescreen</PresentationFormat>
  <Paragraphs>14</Paragraphs>
  <Slides>6</Slides>
  <Notes>2</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6</vt:i4>
      </vt:variant>
    </vt:vector>
  </HeadingPairs>
  <TitlesOfParts>
    <vt:vector size="10" baseType="lpstr">
      <vt:lpstr>Aptos</vt:lpstr>
      <vt:lpstr>Aptos Display</vt:lpstr>
      <vt:lpstr>Arial</vt:lpstr>
      <vt:lpstr>Office Theme</vt:lpstr>
      <vt:lpstr>Demo 1: Genome-wide association studies</vt:lpstr>
      <vt:lpstr>Mendelian vs complex disorders</vt:lpstr>
      <vt:lpstr>Genome-wide association studies</vt:lpstr>
      <vt:lpstr>Genome-wide association studies</vt:lpstr>
      <vt:lpstr>Interpreting GWAS</vt:lpstr>
      <vt:lpstr>Today’s Data: ReD-Lat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Ashlyn Anderson</dc:creator>
  <cp:lastModifiedBy>Ashlyn Anderson</cp:lastModifiedBy>
  <cp:revision>2</cp:revision>
  <dcterms:created xsi:type="dcterms:W3CDTF">2026-05-26T16:40:52Z</dcterms:created>
  <dcterms:modified xsi:type="dcterms:W3CDTF">2026-05-27T15:22:44Z</dcterms:modified>
</cp:coreProperties>
</file>
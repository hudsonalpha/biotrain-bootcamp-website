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62" r:id="rId3"/>
    <p:sldId id="257" r:id="rId4"/>
    <p:sldId id="259"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p:cViewPr>
        <p:scale>
          <a:sx n="83" d="100"/>
          <a:sy n="83" d="100"/>
        </p:scale>
        <p:origin x="2144" y="8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B78040-60AB-864C-9750-E69EF3E571F1}" type="datetimeFigureOut">
              <a:rPr lang="en-US" smtClean="0"/>
              <a:t>5/26/26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594AEA-6D64-7940-8BD3-8F88CBA96C9F}" type="slidenum">
              <a:rPr lang="en-US" smtClean="0"/>
              <a:t>‹#›</a:t>
            </a:fld>
            <a:endParaRPr lang="en-US"/>
          </a:p>
        </p:txBody>
      </p:sp>
    </p:spTree>
    <p:extLst>
      <p:ext uri="{BB962C8B-B14F-4D97-AF65-F5344CB8AC3E}">
        <p14:creationId xmlns:p14="http://schemas.microsoft.com/office/powerpoint/2010/main" val="15976016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94AEA-6D64-7940-8BD3-8F88CBA96C9F}" type="slidenum">
              <a:rPr lang="en-US" smtClean="0"/>
              <a:t>4</a:t>
            </a:fld>
            <a:endParaRPr lang="en-US"/>
          </a:p>
        </p:txBody>
      </p:sp>
    </p:spTree>
    <p:extLst>
      <p:ext uri="{BB962C8B-B14F-4D97-AF65-F5344CB8AC3E}">
        <p14:creationId xmlns:p14="http://schemas.microsoft.com/office/powerpoint/2010/main" val="20042877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94AEA-6D64-7940-8BD3-8F88CBA96C9F}" type="slidenum">
              <a:rPr lang="en-US" smtClean="0"/>
              <a:t>6</a:t>
            </a:fld>
            <a:endParaRPr lang="en-US"/>
          </a:p>
        </p:txBody>
      </p:sp>
    </p:spTree>
    <p:extLst>
      <p:ext uri="{BB962C8B-B14F-4D97-AF65-F5344CB8AC3E}">
        <p14:creationId xmlns:p14="http://schemas.microsoft.com/office/powerpoint/2010/main" val="246964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07DAC-9003-4C53-9142-A81E795D5D5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AD510CE-6305-B49D-B2FC-821538E4BBC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CEBBDE3-D484-AECA-A61C-37CB54EEA0B4}"/>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5" name="Footer Placeholder 4">
            <a:extLst>
              <a:ext uri="{FF2B5EF4-FFF2-40B4-BE49-F238E27FC236}">
                <a16:creationId xmlns:a16="http://schemas.microsoft.com/office/drawing/2014/main" id="{37C5E3D7-C8EB-8485-2070-4846F1DF1D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818CC2-2B58-C810-C570-6FA840939F54}"/>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2583581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97407-31E6-B8C6-CC7F-28B066463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A7BD132-C05B-9E76-DB54-678E6EA145E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81FFAD-6793-077C-4AB4-B56A2AEF299F}"/>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5" name="Footer Placeholder 4">
            <a:extLst>
              <a:ext uri="{FF2B5EF4-FFF2-40B4-BE49-F238E27FC236}">
                <a16:creationId xmlns:a16="http://schemas.microsoft.com/office/drawing/2014/main" id="{01F7E0C9-A5FB-766F-1D7F-F41EEA4F4A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BBA60C-D54A-2666-423F-FB6C0247B040}"/>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2196795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B2186-B6C5-1ED8-BF84-047C2B028D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9A3DB7-91A5-91B9-8589-F4F4714AE77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02976A0-7B6B-2188-3A50-D6DB1C09B163}"/>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5" name="Footer Placeholder 4">
            <a:extLst>
              <a:ext uri="{FF2B5EF4-FFF2-40B4-BE49-F238E27FC236}">
                <a16:creationId xmlns:a16="http://schemas.microsoft.com/office/drawing/2014/main" id="{17B12823-524E-5A2C-EF63-B63E70EF746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9B4D04-E254-B1EB-0A3F-367549594168}"/>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2445130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B448D-D06A-1071-DDD2-C408E37E16F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DE6D0D0-057C-9F11-E7E4-E2EEE34A944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CEF3A38-C6F4-FCD3-C66D-77F596A4D2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60722B1-4421-FF5E-69DD-B7A1BC5A3046}"/>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6" name="Footer Placeholder 5">
            <a:extLst>
              <a:ext uri="{FF2B5EF4-FFF2-40B4-BE49-F238E27FC236}">
                <a16:creationId xmlns:a16="http://schemas.microsoft.com/office/drawing/2014/main" id="{3E350C74-3E7B-EC01-AC78-82234AB84C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AA86A07-DE88-CB34-A21B-3FA172EFAFEE}"/>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26940269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A3FBD-A616-9D46-497A-FCA078CFA0B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B6534A4-902D-EFE4-D6B7-40606D121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AC0B372-9F07-4660-A176-69698525F33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904299B-2ED4-09D1-9593-312CBC440EA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6CDAB0-B76E-84E8-55BC-34B466855CF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ED042E0-D309-6C40-CEFC-1FB2E0E5897D}"/>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8" name="Footer Placeholder 7">
            <a:extLst>
              <a:ext uri="{FF2B5EF4-FFF2-40B4-BE49-F238E27FC236}">
                <a16:creationId xmlns:a16="http://schemas.microsoft.com/office/drawing/2014/main" id="{E99B1E5F-139E-F39A-5509-85C242F48DC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BC1B1CE-7493-378F-FF51-2E562389BE4F}"/>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40823967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A9808A-12BE-2484-09DE-6AF0AEAFEE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66AC58D-7D48-FA3A-1E48-ABF089DB8247}"/>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4" name="Footer Placeholder 3">
            <a:extLst>
              <a:ext uri="{FF2B5EF4-FFF2-40B4-BE49-F238E27FC236}">
                <a16:creationId xmlns:a16="http://schemas.microsoft.com/office/drawing/2014/main" id="{C2891345-66CC-46C8-5282-096ED5F5B25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23780FF-6356-4360-5157-395B8141D054}"/>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31129526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C9453F-FCEA-FA14-0266-FBB112C4732E}"/>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3" name="Footer Placeholder 2">
            <a:extLst>
              <a:ext uri="{FF2B5EF4-FFF2-40B4-BE49-F238E27FC236}">
                <a16:creationId xmlns:a16="http://schemas.microsoft.com/office/drawing/2014/main" id="{B09A615F-2418-B060-0DDE-0240DB46F5A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59D3865-1D34-E4FE-B3F4-775237E5BC43}"/>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12501136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002524-B4BF-A56A-64B5-769A8ADB0C4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D978225-4980-B8CC-39CF-2BF7EADED7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08CC8EF-AC94-DC43-6054-90E790E4B23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8960EE-E240-E5FB-A83C-CD88564F763D}"/>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6" name="Footer Placeholder 5">
            <a:extLst>
              <a:ext uri="{FF2B5EF4-FFF2-40B4-BE49-F238E27FC236}">
                <a16:creationId xmlns:a16="http://schemas.microsoft.com/office/drawing/2014/main" id="{B78F1A5F-6802-E944-AB1F-47B0B0C219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C7CC52-3B70-78C5-D598-13AC5F55A6F1}"/>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6825046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425B9-588E-1B72-EC44-42E4FF6029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455F9DC-65A5-328C-EDB5-FF6648E5A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D3AE16-9E59-E24B-A74F-CBE02EE960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D9509F4-7325-39C9-384E-729863FF3EEE}"/>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6" name="Footer Placeholder 5">
            <a:extLst>
              <a:ext uri="{FF2B5EF4-FFF2-40B4-BE49-F238E27FC236}">
                <a16:creationId xmlns:a16="http://schemas.microsoft.com/office/drawing/2014/main" id="{6321B682-FEC7-2296-D213-FABC14037D7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57570C-218F-7370-D2D1-E039B0A3FFF5}"/>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2933621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60161-6E55-E902-2AEF-DFC947234AF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6C02065-0B45-6239-DF24-3AA4222B6A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9F413-D33F-7320-04BF-2E07D3D50523}"/>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5" name="Footer Placeholder 4">
            <a:extLst>
              <a:ext uri="{FF2B5EF4-FFF2-40B4-BE49-F238E27FC236}">
                <a16:creationId xmlns:a16="http://schemas.microsoft.com/office/drawing/2014/main" id="{41EDC7D7-6099-CF8D-3A96-B224EFEE8F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A785AE6-217A-EF04-6413-73DED5D2B784}"/>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40138172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119CA92-EC94-AFAE-DC49-E5FC8239DE9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7CC7325-7A2B-2929-DAF3-097B3586840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3B5972E-4968-0F48-BB50-AA243B8DBD91}"/>
              </a:ext>
            </a:extLst>
          </p:cNvPr>
          <p:cNvSpPr>
            <a:spLocks noGrp="1"/>
          </p:cNvSpPr>
          <p:nvPr>
            <p:ph type="dt" sz="half" idx="10"/>
          </p:nvPr>
        </p:nvSpPr>
        <p:spPr/>
        <p:txBody>
          <a:bodyPr/>
          <a:lstStyle/>
          <a:p>
            <a:fld id="{4C8FD783-4D4E-7D44-8B7E-358D45B61D7D}" type="datetimeFigureOut">
              <a:rPr lang="en-US" smtClean="0"/>
              <a:t>5/26/26</a:t>
            </a:fld>
            <a:endParaRPr lang="en-US"/>
          </a:p>
        </p:txBody>
      </p:sp>
      <p:sp>
        <p:nvSpPr>
          <p:cNvPr id="5" name="Footer Placeholder 4">
            <a:extLst>
              <a:ext uri="{FF2B5EF4-FFF2-40B4-BE49-F238E27FC236}">
                <a16:creationId xmlns:a16="http://schemas.microsoft.com/office/drawing/2014/main" id="{583CC4DA-2457-820A-F0FA-5F5BB28C39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3EE9DF-5C3E-3B9A-8069-1912CA6640CF}"/>
              </a:ext>
            </a:extLst>
          </p:cNvPr>
          <p:cNvSpPr>
            <a:spLocks noGrp="1"/>
          </p:cNvSpPr>
          <p:nvPr>
            <p:ph type="sldNum" sz="quarter" idx="12"/>
          </p:nvPr>
        </p:nvSpPr>
        <p:spPr/>
        <p:txBody>
          <a:bodyPr/>
          <a:lstStyle/>
          <a:p>
            <a:fld id="{B8AFEDC1-9B7D-B04D-A62A-C20C311CCD12}" type="slidenum">
              <a:rPr lang="en-US" smtClean="0"/>
              <a:t>‹#›</a:t>
            </a:fld>
            <a:endParaRPr lang="en-US"/>
          </a:p>
        </p:txBody>
      </p:sp>
    </p:spTree>
    <p:extLst>
      <p:ext uri="{BB962C8B-B14F-4D97-AF65-F5344CB8AC3E}">
        <p14:creationId xmlns:p14="http://schemas.microsoft.com/office/powerpoint/2010/main" val="1227904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C3F7832-7288-AE73-B384-FB07064AC93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29947BA-84A3-1CDF-C182-E733BBAA6C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2706C-026F-5308-9C40-4562608DDBE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C8FD783-4D4E-7D44-8B7E-358D45B61D7D}" type="datetimeFigureOut">
              <a:rPr lang="en-US" smtClean="0"/>
              <a:t>5/26/26</a:t>
            </a:fld>
            <a:endParaRPr lang="en-US"/>
          </a:p>
        </p:txBody>
      </p:sp>
      <p:sp>
        <p:nvSpPr>
          <p:cNvPr id="5" name="Footer Placeholder 4">
            <a:extLst>
              <a:ext uri="{FF2B5EF4-FFF2-40B4-BE49-F238E27FC236}">
                <a16:creationId xmlns:a16="http://schemas.microsoft.com/office/drawing/2014/main" id="{5F7218A7-C977-565C-E795-614CAF4475E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9BBBFFA-8916-BDB5-49AD-C88D8EA046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AFEDC1-9B7D-B04D-A62A-C20C311CCD12}" type="slidenum">
              <a:rPr lang="en-US" smtClean="0"/>
              <a:t>‹#›</a:t>
            </a:fld>
            <a:endParaRPr lang="en-US"/>
          </a:p>
        </p:txBody>
      </p:sp>
    </p:spTree>
    <p:extLst>
      <p:ext uri="{BB962C8B-B14F-4D97-AF65-F5344CB8AC3E}">
        <p14:creationId xmlns:p14="http://schemas.microsoft.com/office/powerpoint/2010/main" val="29958629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656D0-2941-BAC5-8476-DFB1AAF0EBC3}"/>
              </a:ext>
            </a:extLst>
          </p:cNvPr>
          <p:cNvSpPr>
            <a:spLocks noGrp="1"/>
          </p:cNvSpPr>
          <p:nvPr>
            <p:ph type="ctrTitle"/>
          </p:nvPr>
        </p:nvSpPr>
        <p:spPr/>
        <p:txBody>
          <a:bodyPr/>
          <a:lstStyle/>
          <a:p>
            <a:r>
              <a:rPr lang="en-US" dirty="0"/>
              <a:t>Demo 1: Genome-wide association studies</a:t>
            </a:r>
          </a:p>
        </p:txBody>
      </p:sp>
      <p:sp>
        <p:nvSpPr>
          <p:cNvPr id="3" name="Subtitle 2">
            <a:extLst>
              <a:ext uri="{FF2B5EF4-FFF2-40B4-BE49-F238E27FC236}">
                <a16:creationId xmlns:a16="http://schemas.microsoft.com/office/drawing/2014/main" id="{32D7B1E0-EC13-869E-CC8A-284F742234F5}"/>
              </a:ext>
            </a:extLst>
          </p:cNvPr>
          <p:cNvSpPr>
            <a:spLocks noGrp="1"/>
          </p:cNvSpPr>
          <p:nvPr>
            <p:ph type="subTitle" idx="1"/>
          </p:nvPr>
        </p:nvSpPr>
        <p:spPr/>
        <p:txBody>
          <a:bodyPr>
            <a:normAutofit/>
          </a:bodyPr>
          <a:lstStyle/>
          <a:p>
            <a:r>
              <a:rPr lang="en-US" sz="2000" dirty="0"/>
              <a:t>Ashlyn Anderson</a:t>
            </a:r>
          </a:p>
          <a:p>
            <a:r>
              <a:rPr lang="en-US" sz="2000" dirty="0"/>
              <a:t>PhD Candidate, Cochran lab</a:t>
            </a:r>
          </a:p>
          <a:p>
            <a:r>
              <a:rPr lang="en-US" sz="2000" dirty="0"/>
              <a:t>5/28/26</a:t>
            </a:r>
          </a:p>
        </p:txBody>
      </p:sp>
    </p:spTree>
    <p:extLst>
      <p:ext uri="{BB962C8B-B14F-4D97-AF65-F5344CB8AC3E}">
        <p14:creationId xmlns:p14="http://schemas.microsoft.com/office/powerpoint/2010/main" val="23083563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7" name="Rectangle 2056">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00BBC1-406D-98B1-DA56-27DAA95BEB6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dirty="0">
                <a:solidFill>
                  <a:schemeClr val="bg1"/>
                </a:solidFill>
                <a:latin typeface="+mj-lt"/>
                <a:ea typeface="+mj-ea"/>
                <a:cs typeface="+mj-cs"/>
              </a:rPr>
              <a:t>Mendelian vs complex disorders</a:t>
            </a:r>
          </a:p>
        </p:txBody>
      </p:sp>
      <p:pic>
        <p:nvPicPr>
          <p:cNvPr id="2052" name="Picture 4" descr="Figure 1.  Comparison between rare monogenic and more common polygenic eye diseases. The red arrow illustrates the impact of each genetic change on disease development, with a wider arrow representing a greater impact. Monogenic conditions are caused by single, high-impact genetic variants, whereas the development of polygenic diseases is influenced by the combined effect of multiple, lower-impact genetic changes. The green arrow shows the extent to which environmental factors influence disease development, with a wider arrow representing a greater impact. Lifestyle, diet, and age can significantly influence disease risk in polygenic conditions, compared to the minimal environmental influence on monogenic diseases. Genetic testing for monogenic diseases looks for the presence of pathogenic (disease-causing) variants. In contrast, polygenic risk scores are derived from the cumulative effects of multiple single nucleotide polymorphisms to assess the risk of polygenic conditions. In the general population, pathogenic variants causing monogenic diseases are rare, while single nucleotide polymorphisms for polygenic diseases are common. Some icons within the figure were created with Biorender.com.">
            <a:extLst>
              <a:ext uri="{FF2B5EF4-FFF2-40B4-BE49-F238E27FC236}">
                <a16:creationId xmlns:a16="http://schemas.microsoft.com/office/drawing/2014/main" id="{4B732F55-73A3-1115-1EFB-A60ED3DB31B1}"/>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950529" y="1675227"/>
            <a:ext cx="8290941" cy="43941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12733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4C5F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49869D-9B55-F0E2-F796-7A24836C2A73}"/>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dirty="0">
                <a:solidFill>
                  <a:srgbClr val="FFFFFF"/>
                </a:solidFill>
                <a:latin typeface="+mj-lt"/>
                <a:ea typeface="+mj-ea"/>
                <a:cs typeface="+mj-cs"/>
              </a:rPr>
              <a:t>Genome-wide association studies</a:t>
            </a:r>
          </a:p>
        </p:txBody>
      </p:sp>
      <p:pic>
        <p:nvPicPr>
          <p:cNvPr id="5" name="Content Placeholder 4">
            <a:extLst>
              <a:ext uri="{FF2B5EF4-FFF2-40B4-BE49-F238E27FC236}">
                <a16:creationId xmlns:a16="http://schemas.microsoft.com/office/drawing/2014/main" id="{F02869A5-0C77-8350-6E3B-545657502FAE}"/>
              </a:ext>
            </a:extLst>
          </p:cNvPr>
          <p:cNvPicPr>
            <a:picLocks noGrp="1" noChangeAspect="1"/>
          </p:cNvPicPr>
          <p:nvPr>
            <p:ph idx="1"/>
          </p:nvPr>
        </p:nvPicPr>
        <p:blipFill>
          <a:blip r:embed="rId2"/>
          <a:stretch>
            <a:fillRect/>
          </a:stretch>
        </p:blipFill>
        <p:spPr>
          <a:xfrm>
            <a:off x="4340521" y="410968"/>
            <a:ext cx="7112248" cy="6294341"/>
          </a:xfrm>
          <a:prstGeom prst="rect">
            <a:avLst/>
          </a:prstGeom>
        </p:spPr>
      </p:pic>
      <p:sp>
        <p:nvSpPr>
          <p:cNvPr id="6" name="TextBox 5">
            <a:extLst>
              <a:ext uri="{FF2B5EF4-FFF2-40B4-BE49-F238E27FC236}">
                <a16:creationId xmlns:a16="http://schemas.microsoft.com/office/drawing/2014/main" id="{71E8C881-8F4B-F299-F41E-B12DA49FE41B}"/>
              </a:ext>
            </a:extLst>
          </p:cNvPr>
          <p:cNvSpPr txBox="1"/>
          <p:nvPr/>
        </p:nvSpPr>
        <p:spPr>
          <a:xfrm>
            <a:off x="10302276" y="6556156"/>
            <a:ext cx="1895968" cy="307777"/>
          </a:xfrm>
          <a:prstGeom prst="rect">
            <a:avLst/>
          </a:prstGeom>
          <a:noFill/>
        </p:spPr>
        <p:txBody>
          <a:bodyPr wrap="none" rtlCol="0">
            <a:spAutoFit/>
          </a:bodyPr>
          <a:lstStyle/>
          <a:p>
            <a:r>
              <a:rPr lang="en-US" sz="1400" dirty="0"/>
              <a:t>Uffelmann et al., 2021</a:t>
            </a:r>
          </a:p>
        </p:txBody>
      </p:sp>
    </p:spTree>
    <p:extLst>
      <p:ext uri="{BB962C8B-B14F-4D97-AF65-F5344CB8AC3E}">
        <p14:creationId xmlns:p14="http://schemas.microsoft.com/office/powerpoint/2010/main" val="349645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7B2C70B-9A25-07DF-5124-98B7201E5FCC}"/>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9A0486E-310B-7D21-18BC-E532DBB5CD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C924408-DEE0-1E5D-7883-CF6B878FA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4C5F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D4CDCA-93C7-AF7F-602D-E93A55EF0FC8}"/>
              </a:ext>
            </a:extLst>
          </p:cNvPr>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vert="horz" lIns="91440" tIns="45720" rIns="91440" bIns="45720" rtlCol="0" anchor="ctr">
            <a:normAutofit/>
          </a:bodyPr>
          <a:lstStyle/>
          <a:p>
            <a:pPr algn="ctr"/>
            <a:r>
              <a:rPr lang="en-US" sz="2600" kern="1200" dirty="0">
                <a:solidFill>
                  <a:srgbClr val="FFFFFF"/>
                </a:solidFill>
                <a:latin typeface="+mj-lt"/>
                <a:ea typeface="+mj-ea"/>
                <a:cs typeface="+mj-cs"/>
              </a:rPr>
              <a:t>Genome-wide association studies</a:t>
            </a:r>
          </a:p>
        </p:txBody>
      </p:sp>
      <p:pic>
        <p:nvPicPr>
          <p:cNvPr id="5" name="Content Placeholder 4">
            <a:extLst>
              <a:ext uri="{FF2B5EF4-FFF2-40B4-BE49-F238E27FC236}">
                <a16:creationId xmlns:a16="http://schemas.microsoft.com/office/drawing/2014/main" id="{D41FC90F-0E65-FA56-7940-0A0D3C7E9E36}"/>
              </a:ext>
            </a:extLst>
          </p:cNvPr>
          <p:cNvPicPr>
            <a:picLocks noGrp="1" noChangeAspect="1"/>
          </p:cNvPicPr>
          <p:nvPr>
            <p:ph idx="1"/>
          </p:nvPr>
        </p:nvPicPr>
        <p:blipFill>
          <a:blip r:embed="rId3"/>
          <a:stretch>
            <a:fillRect/>
          </a:stretch>
        </p:blipFill>
        <p:spPr>
          <a:xfrm>
            <a:off x="4340521" y="410968"/>
            <a:ext cx="7112248" cy="6294341"/>
          </a:xfrm>
          <a:prstGeom prst="rect">
            <a:avLst/>
          </a:prstGeom>
        </p:spPr>
      </p:pic>
      <p:sp>
        <p:nvSpPr>
          <p:cNvPr id="3" name="Rectangle 2">
            <a:extLst>
              <a:ext uri="{FF2B5EF4-FFF2-40B4-BE49-F238E27FC236}">
                <a16:creationId xmlns:a16="http://schemas.microsoft.com/office/drawing/2014/main" id="{AC8B7349-72AA-B0E1-FC58-FA71BF198461}"/>
              </a:ext>
            </a:extLst>
          </p:cNvPr>
          <p:cNvSpPr/>
          <p:nvPr/>
        </p:nvSpPr>
        <p:spPr>
          <a:xfrm>
            <a:off x="7777908" y="2426464"/>
            <a:ext cx="3774011" cy="2357173"/>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A3A06F9-A013-742C-4FB9-C6BF63409AB7}"/>
              </a:ext>
            </a:extLst>
          </p:cNvPr>
          <p:cNvSpPr txBox="1"/>
          <p:nvPr/>
        </p:nvSpPr>
        <p:spPr>
          <a:xfrm>
            <a:off x="10302276" y="6556156"/>
            <a:ext cx="1895968" cy="307777"/>
          </a:xfrm>
          <a:prstGeom prst="rect">
            <a:avLst/>
          </a:prstGeom>
          <a:noFill/>
        </p:spPr>
        <p:txBody>
          <a:bodyPr wrap="none" rtlCol="0">
            <a:spAutoFit/>
          </a:bodyPr>
          <a:lstStyle/>
          <a:p>
            <a:r>
              <a:rPr lang="en-US" sz="1400" dirty="0"/>
              <a:t>Uffelmann et al., 2021</a:t>
            </a:r>
          </a:p>
        </p:txBody>
      </p:sp>
    </p:spTree>
    <p:extLst>
      <p:ext uri="{BB962C8B-B14F-4D97-AF65-F5344CB8AC3E}">
        <p14:creationId xmlns:p14="http://schemas.microsoft.com/office/powerpoint/2010/main" val="16384597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4" name="Rectangle 13">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492"/>
            <a:ext cx="12191998" cy="1575955"/>
          </a:xfrm>
          <a:prstGeom prst="rect">
            <a:avLst/>
          </a:prstGeom>
          <a:gradFill>
            <a:gsLst>
              <a:gs pos="0">
                <a:schemeClr val="accent1">
                  <a:lumMod val="50000"/>
                </a:scheme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35"/>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D3539FEE-81D3-4406-802E-60B20B16F4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8" y="-5307777"/>
            <a:ext cx="1576446" cy="12192001"/>
          </a:xfrm>
          <a:prstGeom prst="rect">
            <a:avLst/>
          </a:prstGeom>
          <a:gradFill>
            <a:gsLst>
              <a:gs pos="16000">
                <a:srgbClr val="000000">
                  <a:alpha val="0"/>
                </a:srgbClr>
              </a:gs>
              <a:gs pos="99000">
                <a:srgbClr val="000000">
                  <a:alpha val="87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DC701763-729E-462F-A5A8-E0DEFEB1E2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25434" y="986"/>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F25414-130E-8E01-F3AC-FC952F73D45F}"/>
              </a:ext>
            </a:extLst>
          </p:cNvPr>
          <p:cNvSpPr>
            <a:spLocks noGrp="1"/>
          </p:cNvSpPr>
          <p:nvPr>
            <p:ph type="title"/>
          </p:nvPr>
        </p:nvSpPr>
        <p:spPr>
          <a:xfrm>
            <a:off x="699714" y="353160"/>
            <a:ext cx="7091300" cy="898581"/>
          </a:xfrm>
        </p:spPr>
        <p:txBody>
          <a:bodyPr vert="horz" lIns="91440" tIns="45720" rIns="91440" bIns="45720" rtlCol="0" anchor="ctr">
            <a:normAutofit/>
          </a:bodyPr>
          <a:lstStyle/>
          <a:p>
            <a:r>
              <a:rPr lang="en-US" sz="4000" dirty="0">
                <a:solidFill>
                  <a:srgbClr val="FFFFFF"/>
                </a:solidFill>
              </a:rPr>
              <a:t>Interpreting GWAS</a:t>
            </a:r>
          </a:p>
        </p:txBody>
      </p:sp>
      <p:pic>
        <p:nvPicPr>
          <p:cNvPr id="5" name="Content Placeholder 4">
            <a:extLst>
              <a:ext uri="{FF2B5EF4-FFF2-40B4-BE49-F238E27FC236}">
                <a16:creationId xmlns:a16="http://schemas.microsoft.com/office/drawing/2014/main" id="{06249219-0B8A-1219-F510-1CFD3F87465F}"/>
              </a:ext>
            </a:extLst>
          </p:cNvPr>
          <p:cNvPicPr>
            <a:picLocks noGrp="1" noChangeAspect="1"/>
          </p:cNvPicPr>
          <p:nvPr>
            <p:ph idx="1"/>
          </p:nvPr>
        </p:nvPicPr>
        <p:blipFill>
          <a:blip r:embed="rId2"/>
          <a:stretch>
            <a:fillRect/>
          </a:stretch>
        </p:blipFill>
        <p:spPr>
          <a:xfrm>
            <a:off x="2168075" y="1701206"/>
            <a:ext cx="3626797" cy="4477529"/>
          </a:xfrm>
          <a:prstGeom prst="rect">
            <a:avLst/>
          </a:prstGeom>
        </p:spPr>
      </p:pic>
      <p:pic>
        <p:nvPicPr>
          <p:cNvPr id="7" name="Picture 6">
            <a:extLst>
              <a:ext uri="{FF2B5EF4-FFF2-40B4-BE49-F238E27FC236}">
                <a16:creationId xmlns:a16="http://schemas.microsoft.com/office/drawing/2014/main" id="{2E9876CB-84FA-7F98-C9A5-D02D635E5477}"/>
              </a:ext>
            </a:extLst>
          </p:cNvPr>
          <p:cNvPicPr>
            <a:picLocks noChangeAspect="1"/>
          </p:cNvPicPr>
          <p:nvPr/>
        </p:nvPicPr>
        <p:blipFill>
          <a:blip r:embed="rId3"/>
          <a:stretch>
            <a:fillRect/>
          </a:stretch>
        </p:blipFill>
        <p:spPr>
          <a:xfrm>
            <a:off x="6049558" y="1600467"/>
            <a:ext cx="3482912" cy="5198380"/>
          </a:xfrm>
          <a:prstGeom prst="rect">
            <a:avLst/>
          </a:prstGeom>
        </p:spPr>
      </p:pic>
      <p:sp>
        <p:nvSpPr>
          <p:cNvPr id="8" name="TextBox 7">
            <a:extLst>
              <a:ext uri="{FF2B5EF4-FFF2-40B4-BE49-F238E27FC236}">
                <a16:creationId xmlns:a16="http://schemas.microsoft.com/office/drawing/2014/main" id="{C0EB3A43-B7BD-B38E-5C7D-1890D5F1D202}"/>
              </a:ext>
            </a:extLst>
          </p:cNvPr>
          <p:cNvSpPr txBox="1"/>
          <p:nvPr/>
        </p:nvSpPr>
        <p:spPr>
          <a:xfrm>
            <a:off x="10302276" y="6556156"/>
            <a:ext cx="1895968" cy="307777"/>
          </a:xfrm>
          <a:prstGeom prst="rect">
            <a:avLst/>
          </a:prstGeom>
          <a:noFill/>
        </p:spPr>
        <p:txBody>
          <a:bodyPr wrap="none" rtlCol="0">
            <a:spAutoFit/>
          </a:bodyPr>
          <a:lstStyle/>
          <a:p>
            <a:r>
              <a:rPr lang="en-US" sz="1400" dirty="0"/>
              <a:t>Uffelmann et al., 2021</a:t>
            </a:r>
          </a:p>
        </p:txBody>
      </p:sp>
    </p:spTree>
    <p:extLst>
      <p:ext uri="{BB962C8B-B14F-4D97-AF65-F5344CB8AC3E}">
        <p14:creationId xmlns:p14="http://schemas.microsoft.com/office/powerpoint/2010/main" val="27073947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9963FC8-A9BF-C6C1-3FD9-AC75740BA166}"/>
              </a:ext>
            </a:extLst>
          </p:cNvPr>
          <p:cNvSpPr>
            <a:spLocks noGrp="1"/>
          </p:cNvSpPr>
          <p:nvPr>
            <p:ph type="title"/>
          </p:nvPr>
        </p:nvSpPr>
        <p:spPr>
          <a:xfrm>
            <a:off x="1371597" y="348865"/>
            <a:ext cx="10044023" cy="877729"/>
          </a:xfrm>
        </p:spPr>
        <p:txBody>
          <a:bodyPr anchor="ctr">
            <a:normAutofit/>
          </a:bodyPr>
          <a:lstStyle/>
          <a:p>
            <a:r>
              <a:rPr lang="en-US" sz="4000" b="1" dirty="0">
                <a:solidFill>
                  <a:srgbClr val="FFFFFF"/>
                </a:solidFill>
              </a:rPr>
              <a:t>Today’s Data: </a:t>
            </a:r>
            <a:r>
              <a:rPr lang="en-US" sz="4000" dirty="0" err="1">
                <a:solidFill>
                  <a:srgbClr val="FFFFFF"/>
                </a:solidFill>
              </a:rPr>
              <a:t>ReD</a:t>
            </a:r>
            <a:r>
              <a:rPr lang="en-US" sz="4000" dirty="0">
                <a:solidFill>
                  <a:srgbClr val="FFFFFF"/>
                </a:solidFill>
              </a:rPr>
              <a:t>-Lat</a:t>
            </a:r>
          </a:p>
        </p:txBody>
      </p:sp>
      <p:grpSp>
        <p:nvGrpSpPr>
          <p:cNvPr id="5" name="Group 4">
            <a:extLst>
              <a:ext uri="{FF2B5EF4-FFF2-40B4-BE49-F238E27FC236}">
                <a16:creationId xmlns:a16="http://schemas.microsoft.com/office/drawing/2014/main" id="{82AB4BBF-7A00-B6D4-69A2-02AF5FDE9671}"/>
              </a:ext>
            </a:extLst>
          </p:cNvPr>
          <p:cNvGrpSpPr/>
          <p:nvPr/>
        </p:nvGrpSpPr>
        <p:grpSpPr>
          <a:xfrm>
            <a:off x="5241165" y="2120329"/>
            <a:ext cx="5954317" cy="4192805"/>
            <a:chOff x="3886379" y="1844924"/>
            <a:chExt cx="6921168" cy="4873625"/>
          </a:xfrm>
        </p:grpSpPr>
        <p:pic>
          <p:nvPicPr>
            <p:cNvPr id="1026" name="Picture 2" descr="EN THE PROJECT » ReD-Lat">
              <a:extLst>
                <a:ext uri="{FF2B5EF4-FFF2-40B4-BE49-F238E27FC236}">
                  <a16:creationId xmlns:a16="http://schemas.microsoft.com/office/drawing/2014/main" id="{75732F2F-E7F3-3ADD-5DB5-2309E7E7B7F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30662"/>
            <a:stretch>
              <a:fillRect/>
            </a:stretch>
          </p:blipFill>
          <p:spPr bwMode="auto">
            <a:xfrm>
              <a:off x="3886379" y="1844924"/>
              <a:ext cx="6568629" cy="4873625"/>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429152B3-7F9D-8DF4-2200-82025835D935}"/>
                </a:ext>
              </a:extLst>
            </p:cNvPr>
            <p:cNvSpPr/>
            <p:nvPr/>
          </p:nvSpPr>
          <p:spPr>
            <a:xfrm>
              <a:off x="8956713" y="5144877"/>
              <a:ext cx="1850834" cy="81524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028" name="Picture 4" descr="EN HOME » ReD-Lat">
            <a:extLst>
              <a:ext uri="{FF2B5EF4-FFF2-40B4-BE49-F238E27FC236}">
                <a16:creationId xmlns:a16="http://schemas.microsoft.com/office/drawing/2014/main" id="{5E0F126A-5110-5BBE-F42D-BB4296DFFF0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9881" y="3307814"/>
            <a:ext cx="3606800" cy="1206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26144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2750</TotalTime>
  <Words>47</Words>
  <Application>Microsoft Macintosh PowerPoint</Application>
  <PresentationFormat>Widescreen</PresentationFormat>
  <Paragraphs>14</Paragraphs>
  <Slides>6</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Aptos</vt:lpstr>
      <vt:lpstr>Aptos Display</vt:lpstr>
      <vt:lpstr>Arial</vt:lpstr>
      <vt:lpstr>Office Theme</vt:lpstr>
      <vt:lpstr>Demo 1: Genome-wide association studies</vt:lpstr>
      <vt:lpstr>Mendelian vs complex disorders</vt:lpstr>
      <vt:lpstr>Genome-wide association studies</vt:lpstr>
      <vt:lpstr>Genome-wide association studies</vt:lpstr>
      <vt:lpstr>Interpreting GWAS</vt:lpstr>
      <vt:lpstr>Today’s Data: ReD-Lat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Ashlyn Anderson</dc:creator>
  <cp:lastModifiedBy>Ashlyn Anderson</cp:lastModifiedBy>
  <cp:revision>3</cp:revision>
  <dcterms:created xsi:type="dcterms:W3CDTF">2026-05-26T16:40:52Z</dcterms:created>
  <dcterms:modified xsi:type="dcterms:W3CDTF">2026-05-28T14:31:46Z</dcterms:modified>
</cp:coreProperties>
</file>